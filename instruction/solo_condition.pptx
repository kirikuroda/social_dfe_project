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72" r:id="rId1"/>
    <p:sldMasterId id="2147483673" r:id="rId2"/>
  </p:sldMasterIdLst>
  <p:notesMasterIdLst>
    <p:notesMasterId r:id="rId31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</p:sldIdLst>
  <p:sldSz cx="9144000" cy="5143500" type="screen16x9"/>
  <p:notesSz cx="9144000" cy="6858000"/>
  <p:embeddedFontLst>
    <p:embeddedFont>
      <p:font typeface="Roboto" panose="02000000000000000000" pitchFamily="2" charset="0"/>
      <p:regular r:id="rId32"/>
      <p:bold r:id="rId33"/>
      <p:italic r:id="rId34"/>
      <p:boldItalic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43" d="100"/>
          <a:sy n="143" d="100"/>
        </p:scale>
        <p:origin x="1304" y="48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ableStyles" Target="tableStyles.xml"/><Relationship Id="rId21" Type="http://schemas.openxmlformats.org/officeDocument/2006/relationships/slide" Target="slides/slide19.xml"/><Relationship Id="rId34" Type="http://schemas.openxmlformats.org/officeDocument/2006/relationships/font" Target="fonts/font3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font" Target="fonts/font2.fntdata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font" Target="fonts/font1.fntdata"/><Relationship Id="rId37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font" Target="fonts/font4.fntdata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2bb6ca9f17_0_5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2bb6ca9f17_0_57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2bb6ca9f17_0_5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2bb6ca9f17_0_576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2bb6ca9f17_0_5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2bb6ca9f17_0_58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2bb6ca9f17_0_5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2bb6ca9f17_0_588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2bb6ca9f17_0_5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2bb6ca9f17_0_594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2bb6ca9f17_0_6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2bb6ca9f17_0_600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2bb6ca9f17_0_6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2bb6ca9f17_0_606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2bb6ca9f17_0_6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2bb6ca9f17_0_61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2bb6ca9f17_0_6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2bb6ca9f17_0_62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2bb6ca9f17_0_6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2bb6ca9f17_0_639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2bb6ca9f17_0_6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2bb6ca9f17_0_657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2bb6ca9f17_0_6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2bb6ca9f17_0_67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2bb6ca9f17_0_6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2bb6ca9f17_0_69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2bb6ca9f17_0_7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2bb6ca9f17_0_71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2bb6ca9f17_0_7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32bb6ca9f17_0_728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2bb6ca9f17_0_7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2bb6ca9f17_0_74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2bb6ca9f17_0_7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32bb6ca9f17_0_75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2bb6ca9f17_0_7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32bb6ca9f17_0_767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2bb6ca9f17_0_7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32bb6ca9f17_0_780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2bb6ca9f17_0_7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32bb6ca9f17_0_788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2bb6ca9f17_0_7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32bb6ca9f17_0_798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2bb6ca9f17_0_9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32bb6ca9f17_0_91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2bb6ca9f17_0_9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32bb6ca9f17_0_920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2bb6ca9f17_0_9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32bb6ca9f17_0_92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2bb6ca9f17_0_10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32bb6ca9f17_0_1004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32bb6ca9f17_0_10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" name="Google Shape;465;g32bb6ca9f17_0_105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32bb6ca9f17_0_10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3" name="Google Shape;473;g32bb6ca9f17_0_106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2bb6ca9f17_0_10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1" name="Google Shape;481;g32bb6ca9f17_0_1076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1164450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 b="1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 b="1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 b="1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 b="1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 b="1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 b="1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 b="1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 b="1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991625"/>
            <a:ext cx="8520600" cy="113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2800"/>
              <a:buFont typeface="Roboto"/>
              <a:buNone/>
              <a:defRPr sz="2800">
                <a:solidFill>
                  <a:srgbClr val="A6A6A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2800"/>
              <a:buFont typeface="Roboto"/>
              <a:buNone/>
              <a:defRPr sz="2800">
                <a:solidFill>
                  <a:srgbClr val="A6A6A6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2800"/>
              <a:buFont typeface="Roboto"/>
              <a:buNone/>
              <a:defRPr sz="2800">
                <a:solidFill>
                  <a:srgbClr val="A6A6A6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2800"/>
              <a:buFont typeface="Roboto"/>
              <a:buNone/>
              <a:defRPr sz="2800">
                <a:solidFill>
                  <a:srgbClr val="A6A6A6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2800"/>
              <a:buFont typeface="Roboto"/>
              <a:buNone/>
              <a:defRPr sz="2800">
                <a:solidFill>
                  <a:srgbClr val="A6A6A6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2800"/>
              <a:buFont typeface="Roboto"/>
              <a:buNone/>
              <a:defRPr sz="2800">
                <a:solidFill>
                  <a:srgbClr val="A6A6A6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2800"/>
              <a:buFont typeface="Roboto"/>
              <a:buNone/>
              <a:defRPr sz="2800">
                <a:solidFill>
                  <a:srgbClr val="A6A6A6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2800"/>
              <a:buFont typeface="Roboto"/>
              <a:buNone/>
              <a:defRPr sz="2800">
                <a:solidFill>
                  <a:srgbClr val="A6A6A6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2800"/>
              <a:buFont typeface="Roboto"/>
              <a:buNone/>
              <a:defRPr sz="2800">
                <a:solidFill>
                  <a:srgbClr val="A6A6A6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rgbClr val="F9F3DF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270000" y="180000"/>
            <a:ext cx="8604000" cy="83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270000" y="1015850"/>
            <a:ext cx="8604000" cy="39477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marL="457200" lvl="0" indent="-419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Char char="●"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419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Char char="○"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419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Char char="■"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419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Char char="●"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419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Char char="○"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419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Char char="■"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419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Char char="●"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419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Char char="○"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419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Char char="■"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と本文 1">
  <p:cSld name="TITLE_AND_BODY_1">
    <p:bg>
      <p:bgPr>
        <a:solidFill>
          <a:srgbClr val="F9F3DF"/>
        </a:solid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270000" y="180000"/>
            <a:ext cx="8604000" cy="83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531425" y="1015850"/>
            <a:ext cx="5342700" cy="39477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marL="457200" lvl="0" indent="-419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Char char="●"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419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Char char="○"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419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Char char="■"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419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Char char="●"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419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Char char="○"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419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Char char="■"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419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Char char="●"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419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Char char="○"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419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Char char="■"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>
            <a:spLocks noGrp="1"/>
          </p:cNvSpPr>
          <p:nvPr>
            <p:ph type="title"/>
          </p:nvPr>
        </p:nvSpPr>
        <p:spPr>
          <a:xfrm>
            <a:off x="270000" y="180000"/>
            <a:ext cx="86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270000" y="180000"/>
            <a:ext cx="86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1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2" name="Google Shape;42;p1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4" name="Google Shape;4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ctrTitle"/>
          </p:nvPr>
        </p:nvSpPr>
        <p:spPr>
          <a:xfrm>
            <a:off x="311708" y="1308050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 b="1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 b="1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 b="1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 b="1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 b="1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 b="1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 b="1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 b="1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subTitle" idx="1"/>
          </p:nvPr>
        </p:nvSpPr>
        <p:spPr>
          <a:xfrm>
            <a:off x="270000" y="3181350"/>
            <a:ext cx="8520600" cy="113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2800"/>
              <a:buFont typeface="Roboto"/>
              <a:buNone/>
              <a:defRPr sz="2800">
                <a:solidFill>
                  <a:srgbClr val="A6A6A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2800"/>
              <a:buFont typeface="Roboto"/>
              <a:buNone/>
              <a:defRPr sz="2800">
                <a:solidFill>
                  <a:srgbClr val="A6A6A6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2800"/>
              <a:buFont typeface="Roboto"/>
              <a:buNone/>
              <a:defRPr sz="2800">
                <a:solidFill>
                  <a:srgbClr val="A6A6A6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2800"/>
              <a:buFont typeface="Roboto"/>
              <a:buNone/>
              <a:defRPr sz="2800">
                <a:solidFill>
                  <a:srgbClr val="A6A6A6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2800"/>
              <a:buFont typeface="Roboto"/>
              <a:buNone/>
              <a:defRPr sz="2800">
                <a:solidFill>
                  <a:srgbClr val="A6A6A6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2800"/>
              <a:buFont typeface="Roboto"/>
              <a:buNone/>
              <a:defRPr sz="2800">
                <a:solidFill>
                  <a:srgbClr val="A6A6A6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2800"/>
              <a:buFont typeface="Roboto"/>
              <a:buNone/>
              <a:defRPr sz="2800">
                <a:solidFill>
                  <a:srgbClr val="A6A6A6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2800"/>
              <a:buFont typeface="Roboto"/>
              <a:buNone/>
              <a:defRPr sz="2800">
                <a:solidFill>
                  <a:srgbClr val="A6A6A6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2800"/>
              <a:buFont typeface="Roboto"/>
              <a:buNone/>
              <a:defRPr sz="2800">
                <a:solidFill>
                  <a:srgbClr val="A6A6A6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61" name="Google Shape;61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rgbClr val="F9F3DF"/>
        </a:solid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>
            <a:spLocks noGrp="1"/>
          </p:cNvSpPr>
          <p:nvPr>
            <p:ph type="title"/>
          </p:nvPr>
        </p:nvSpPr>
        <p:spPr>
          <a:xfrm>
            <a:off x="270000" y="180000"/>
            <a:ext cx="8604000" cy="83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 txBox="1">
            <a:spLocks noGrp="1"/>
          </p:cNvSpPr>
          <p:nvPr>
            <p:ph type="body" idx="1"/>
          </p:nvPr>
        </p:nvSpPr>
        <p:spPr>
          <a:xfrm>
            <a:off x="270000" y="1015850"/>
            <a:ext cx="8604000" cy="39477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marL="457200" lvl="0" indent="-419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Char char="●"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419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Char char="○"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419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Char char="■"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419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Char char="●"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419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Char char="○"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419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Char char="■"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419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Char char="●"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419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Char char="○"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419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Char char="■"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68" name="Google Shape;68;p17"/>
          <p:cNvSpPr txBox="1">
            <a:spLocks noGrp="1"/>
          </p:cNvSpPr>
          <p:nvPr>
            <p:ph type="sldNum" idx="12"/>
          </p:nvPr>
        </p:nvSpPr>
        <p:spPr>
          <a:xfrm>
            <a:off x="8472458" y="45870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 sz="2000">
                <a:latin typeface="Roboto"/>
                <a:ea typeface="Roboto"/>
                <a:cs typeface="Roboto"/>
                <a:sym typeface="Roboto"/>
              </a:defRPr>
            </a:lvl1pPr>
            <a:lvl2pPr lvl="1">
              <a:buNone/>
              <a:defRPr sz="2000">
                <a:latin typeface="Roboto"/>
                <a:ea typeface="Roboto"/>
                <a:cs typeface="Roboto"/>
                <a:sym typeface="Roboto"/>
              </a:defRPr>
            </a:lvl2pPr>
            <a:lvl3pPr lvl="2">
              <a:buNone/>
              <a:defRPr sz="2000">
                <a:latin typeface="Roboto"/>
                <a:ea typeface="Roboto"/>
                <a:cs typeface="Roboto"/>
                <a:sym typeface="Roboto"/>
              </a:defRPr>
            </a:lvl3pPr>
            <a:lvl4pPr lvl="3">
              <a:buNone/>
              <a:defRPr sz="2000">
                <a:latin typeface="Roboto"/>
                <a:ea typeface="Roboto"/>
                <a:cs typeface="Roboto"/>
                <a:sym typeface="Roboto"/>
              </a:defRPr>
            </a:lvl4pPr>
            <a:lvl5pPr lvl="4">
              <a:buNone/>
              <a:defRPr sz="2000">
                <a:latin typeface="Roboto"/>
                <a:ea typeface="Roboto"/>
                <a:cs typeface="Roboto"/>
                <a:sym typeface="Roboto"/>
              </a:defRPr>
            </a:lvl5pPr>
            <a:lvl6pPr lvl="5">
              <a:buNone/>
              <a:defRPr sz="2000">
                <a:latin typeface="Roboto"/>
                <a:ea typeface="Roboto"/>
                <a:cs typeface="Roboto"/>
                <a:sym typeface="Roboto"/>
              </a:defRPr>
            </a:lvl6pPr>
            <a:lvl7pPr lvl="6">
              <a:buNone/>
              <a:defRPr sz="2000">
                <a:latin typeface="Roboto"/>
                <a:ea typeface="Roboto"/>
                <a:cs typeface="Roboto"/>
                <a:sym typeface="Roboto"/>
              </a:defRPr>
            </a:lvl7pPr>
            <a:lvl8pPr lvl="7">
              <a:buNone/>
              <a:defRPr sz="2000">
                <a:latin typeface="Roboto"/>
                <a:ea typeface="Roboto"/>
                <a:cs typeface="Roboto"/>
                <a:sym typeface="Roboto"/>
              </a:defRPr>
            </a:lvl8pPr>
            <a:lvl9pPr lvl="8">
              <a:buNone/>
              <a:defRPr sz="2000"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と本文 1">
  <p:cSld name="TITLE_AND_BODY_1">
    <p:bg>
      <p:bgPr>
        <a:solidFill>
          <a:srgbClr val="F9F3DF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8"/>
          <p:cNvSpPr txBox="1">
            <a:spLocks noGrp="1"/>
          </p:cNvSpPr>
          <p:nvPr>
            <p:ph type="body" idx="1"/>
          </p:nvPr>
        </p:nvSpPr>
        <p:spPr>
          <a:xfrm>
            <a:off x="3531425" y="597900"/>
            <a:ext cx="5342700" cy="39477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marL="457200" lvl="0" indent="-419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Char char="●"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419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Char char="○"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419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Char char="■"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419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Char char="●"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419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Char char="○"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419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Char char="■"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419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Char char="●"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419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Char char="○"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419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Char char="■"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1" name="Google Shape;71;p18"/>
          <p:cNvSpPr txBox="1">
            <a:spLocks noGrp="1"/>
          </p:cNvSpPr>
          <p:nvPr>
            <p:ph type="sldNum" idx="12"/>
          </p:nvPr>
        </p:nvSpPr>
        <p:spPr>
          <a:xfrm>
            <a:off x="8472458" y="45870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 sz="2000">
                <a:latin typeface="Roboto"/>
                <a:ea typeface="Roboto"/>
                <a:cs typeface="Roboto"/>
                <a:sym typeface="Roboto"/>
              </a:defRPr>
            </a:lvl1pPr>
            <a:lvl2pPr lvl="1">
              <a:buNone/>
              <a:defRPr sz="2000">
                <a:latin typeface="Roboto"/>
                <a:ea typeface="Roboto"/>
                <a:cs typeface="Roboto"/>
                <a:sym typeface="Roboto"/>
              </a:defRPr>
            </a:lvl2pPr>
            <a:lvl3pPr lvl="2">
              <a:buNone/>
              <a:defRPr sz="2000">
                <a:latin typeface="Roboto"/>
                <a:ea typeface="Roboto"/>
                <a:cs typeface="Roboto"/>
                <a:sym typeface="Roboto"/>
              </a:defRPr>
            </a:lvl3pPr>
            <a:lvl4pPr lvl="3">
              <a:buNone/>
              <a:defRPr sz="2000">
                <a:latin typeface="Roboto"/>
                <a:ea typeface="Roboto"/>
                <a:cs typeface="Roboto"/>
                <a:sym typeface="Roboto"/>
              </a:defRPr>
            </a:lvl4pPr>
            <a:lvl5pPr lvl="4">
              <a:buNone/>
              <a:defRPr sz="2000">
                <a:latin typeface="Roboto"/>
                <a:ea typeface="Roboto"/>
                <a:cs typeface="Roboto"/>
                <a:sym typeface="Roboto"/>
              </a:defRPr>
            </a:lvl5pPr>
            <a:lvl6pPr lvl="5">
              <a:buNone/>
              <a:defRPr sz="2000">
                <a:latin typeface="Roboto"/>
                <a:ea typeface="Roboto"/>
                <a:cs typeface="Roboto"/>
                <a:sym typeface="Roboto"/>
              </a:defRPr>
            </a:lvl6pPr>
            <a:lvl7pPr lvl="6">
              <a:buNone/>
              <a:defRPr sz="2000">
                <a:latin typeface="Roboto"/>
                <a:ea typeface="Roboto"/>
                <a:cs typeface="Roboto"/>
                <a:sym typeface="Roboto"/>
              </a:defRPr>
            </a:lvl7pPr>
            <a:lvl8pPr lvl="7">
              <a:buNone/>
              <a:defRPr sz="2000">
                <a:latin typeface="Roboto"/>
                <a:ea typeface="Roboto"/>
                <a:cs typeface="Roboto"/>
                <a:sym typeface="Roboto"/>
              </a:defRPr>
            </a:lvl8pPr>
            <a:lvl9pPr lvl="8">
              <a:buNone/>
              <a:defRPr sz="2000"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9"/>
          <p:cNvSpPr txBox="1">
            <a:spLocks noGrp="1"/>
          </p:cNvSpPr>
          <p:nvPr>
            <p:ph type="title"/>
          </p:nvPr>
        </p:nvSpPr>
        <p:spPr>
          <a:xfrm>
            <a:off x="270000" y="180000"/>
            <a:ext cx="86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5" name="Google Shape;75;p19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>
            <a:spLocks noGrp="1"/>
          </p:cNvSpPr>
          <p:nvPr>
            <p:ph type="title"/>
          </p:nvPr>
        </p:nvSpPr>
        <p:spPr>
          <a:xfrm>
            <a:off x="270000" y="180000"/>
            <a:ext cx="86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82" name="Google Shape;82;p21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83" name="Google Shape;83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2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86" name="Google Shape;86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3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90" name="Google Shape;90;p23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91" name="Google Shape;91;p23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2" name="Google Shape;92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95" name="Google Shape;95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5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8" name="Google Shape;98;p25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9" name="Google Shape;99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9F3D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270000" y="180000"/>
            <a:ext cx="86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270000" y="893650"/>
            <a:ext cx="8604000" cy="40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EA4335"/>
          </p15:clr>
        </p15:guide>
        <p15:guide id="2" pos="2880">
          <p15:clr>
            <a:srgbClr val="EA4335"/>
          </p15:clr>
        </p15:guide>
        <p15:guide id="3" pos="170">
          <p15:clr>
            <a:srgbClr val="EA4335"/>
          </p15:clr>
        </p15:guide>
        <p15:guide id="4" pos="5590">
          <p15:clr>
            <a:srgbClr val="EA4335"/>
          </p15:clr>
        </p15:guide>
        <p15:guide id="5" orient="horz" pos="113">
          <p15:clr>
            <a:srgbClr val="EA4335"/>
          </p15:clr>
        </p15:guide>
        <p15:guide id="6" orient="horz" pos="3127">
          <p15:clr>
            <a:srgbClr val="EA4335"/>
          </p15:clr>
        </p15:guide>
        <p15:guide id="7" pos="1984">
          <p15:clr>
            <a:srgbClr val="E46962"/>
          </p15:clr>
        </p15:guide>
        <p15:guide id="8" pos="3787">
          <p15:clr>
            <a:srgbClr val="E46962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9F3DF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title"/>
          </p:nvPr>
        </p:nvSpPr>
        <p:spPr>
          <a:xfrm>
            <a:off x="270000" y="180000"/>
            <a:ext cx="86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body" idx="1"/>
          </p:nvPr>
        </p:nvSpPr>
        <p:spPr>
          <a:xfrm>
            <a:off x="270000" y="893650"/>
            <a:ext cx="8604000" cy="40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EA4335"/>
          </p15:clr>
        </p15:guide>
        <p15:guide id="2" pos="2880">
          <p15:clr>
            <a:srgbClr val="EA4335"/>
          </p15:clr>
        </p15:guide>
        <p15:guide id="3" pos="170">
          <p15:clr>
            <a:srgbClr val="EA4335"/>
          </p15:clr>
        </p15:guide>
        <p15:guide id="4" pos="5590">
          <p15:clr>
            <a:srgbClr val="EA4335"/>
          </p15:clr>
        </p15:guide>
        <p15:guide id="5" orient="horz" pos="113">
          <p15:clr>
            <a:srgbClr val="EA4335"/>
          </p15:clr>
        </p15:guide>
        <p15:guide id="6" orient="horz" pos="3127">
          <p15:clr>
            <a:srgbClr val="EA4335"/>
          </p15:clr>
        </p15:guide>
        <p15:guide id="7" pos="1984">
          <p15:clr>
            <a:srgbClr val="E46962"/>
          </p15:clr>
        </p15:guide>
        <p15:guide id="8" pos="3787">
          <p15:clr>
            <a:srgbClr val="E46962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://drive.google.com/file/d/1qyclvEqqI22bXoGsOYp_YCDJjCq0j6GE/view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4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://drive.google.com/file/d/1rKScsCZVxFgt2nE0I1MuDPnb2mNeFCq7/view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8.jp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6.png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7"/>
          <p:cNvSpPr txBox="1">
            <a:spLocks noGrp="1"/>
          </p:cNvSpPr>
          <p:nvPr>
            <p:ph type="ctrTitle"/>
          </p:nvPr>
        </p:nvSpPr>
        <p:spPr>
          <a:xfrm>
            <a:off x="311708" y="1308050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Instructions for today’s task</a:t>
            </a:r>
            <a:endParaRPr/>
          </a:p>
        </p:txBody>
      </p:sp>
      <p:sp>
        <p:nvSpPr>
          <p:cNvPr id="107" name="Google Shape;107;p27"/>
          <p:cNvSpPr txBox="1">
            <a:spLocks noGrp="1"/>
          </p:cNvSpPr>
          <p:nvPr>
            <p:ph type="subTitle" idx="1"/>
          </p:nvPr>
        </p:nvSpPr>
        <p:spPr>
          <a:xfrm>
            <a:off x="270000" y="3181350"/>
            <a:ext cx="8520600" cy="113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Click “Next &gt;” to read the slides →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8"/>
          <p:cNvSpPr txBox="1">
            <a:spLocks noGrp="1"/>
          </p:cNvSpPr>
          <p:nvPr>
            <p:ph type="ctrTitle"/>
          </p:nvPr>
        </p:nvSpPr>
        <p:spPr>
          <a:xfrm>
            <a:off x="311708" y="1308050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Task overview</a:t>
            </a:r>
            <a:endParaRPr/>
          </a:p>
        </p:txBody>
      </p:sp>
      <p:sp>
        <p:nvSpPr>
          <p:cNvPr id="113" name="Google Shape;113;p28"/>
          <p:cNvSpPr txBox="1">
            <a:spLocks noGrp="1"/>
          </p:cNvSpPr>
          <p:nvPr>
            <p:ph type="subTitle" idx="1"/>
          </p:nvPr>
        </p:nvSpPr>
        <p:spPr>
          <a:xfrm>
            <a:off x="270000" y="3181350"/>
            <a:ext cx="8520600" cy="113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28" title="PROGRESS_BAR_ID"/>
          <p:cNvSpPr/>
          <p:nvPr/>
        </p:nvSpPr>
        <p:spPr>
          <a:xfrm>
            <a:off x="0" y="4953000"/>
            <a:ext cx="338700" cy="1905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9"/>
          <p:cNvSpPr txBox="1">
            <a:spLocks noGrp="1"/>
          </p:cNvSpPr>
          <p:nvPr>
            <p:ph type="body" idx="1"/>
          </p:nvPr>
        </p:nvSpPr>
        <p:spPr>
          <a:xfrm>
            <a:off x="270000" y="212725"/>
            <a:ext cx="8604000" cy="4750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ja"/>
              <a:t>The task has 40 rounds. </a:t>
            </a:r>
            <a:r>
              <a:rPr lang="ja" b="1">
                <a:solidFill>
                  <a:srgbClr val="0D6EFD"/>
                </a:solidFill>
              </a:rPr>
              <a:t>In each round, you have to choose between two lotteries with different prizes and odds.</a:t>
            </a:r>
            <a:endParaRPr b="1">
              <a:solidFill>
                <a:srgbClr val="0D6EFD"/>
              </a:solidFill>
            </a:endParaRPr>
          </a:p>
        </p:txBody>
      </p:sp>
      <p:sp>
        <p:nvSpPr>
          <p:cNvPr id="121" name="Google Shape;121;p29" title="PROGRESS_BAR_ID"/>
          <p:cNvSpPr/>
          <p:nvPr/>
        </p:nvSpPr>
        <p:spPr>
          <a:xfrm>
            <a:off x="0" y="4953000"/>
            <a:ext cx="677400" cy="1905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4770346D-F88B-84DC-2956-6AC9459CEEF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 smtClean="0"/>
              <a:t>3</a:t>
            </a:fld>
            <a:endParaRPr lang="ja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0"/>
          <p:cNvSpPr txBox="1">
            <a:spLocks noGrp="1"/>
          </p:cNvSpPr>
          <p:nvPr>
            <p:ph type="body" idx="1"/>
          </p:nvPr>
        </p:nvSpPr>
        <p:spPr>
          <a:xfrm>
            <a:off x="270000" y="212725"/>
            <a:ext cx="8604000" cy="4750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chemeClr val="dk2"/>
                </a:solidFill>
              </a:rPr>
              <a:t>The task has 40 rounds. </a:t>
            </a:r>
            <a:r>
              <a:rPr lang="ja" b="1">
                <a:solidFill>
                  <a:schemeClr val="dk2"/>
                </a:solidFill>
              </a:rPr>
              <a:t>In each round, you have to choose between two lotteries with different prizes and odds.</a:t>
            </a:r>
            <a:endParaRPr b="1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ja"/>
              <a:t>We will not tell you the exact odds of each lottery. </a:t>
            </a:r>
            <a:r>
              <a:rPr lang="ja" b="1">
                <a:solidFill>
                  <a:srgbClr val="0D6EFD"/>
                </a:solidFill>
              </a:rPr>
              <a:t>Instead, you can try out the lotteries before deciding which one you want to play.</a:t>
            </a:r>
            <a:endParaRPr b="1">
              <a:solidFill>
                <a:srgbClr val="0D6EFD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b="1">
              <a:solidFill>
                <a:srgbClr val="0D6EFD"/>
              </a:solidFill>
            </a:endParaRPr>
          </a:p>
        </p:txBody>
      </p:sp>
      <p:sp>
        <p:nvSpPr>
          <p:cNvPr id="128" name="Google Shape;128;p30" title="PROGRESS_BAR_ID"/>
          <p:cNvSpPr/>
          <p:nvPr/>
        </p:nvSpPr>
        <p:spPr>
          <a:xfrm>
            <a:off x="0" y="4953000"/>
            <a:ext cx="1016100" cy="1905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261E9380-6628-42F8-9BD1-E6E47BC5B90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 smtClean="0"/>
              <a:t>4</a:t>
            </a:fld>
            <a:endParaRPr lang="ja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1"/>
          <p:cNvSpPr txBox="1">
            <a:spLocks noGrp="1"/>
          </p:cNvSpPr>
          <p:nvPr>
            <p:ph type="body" idx="1"/>
          </p:nvPr>
        </p:nvSpPr>
        <p:spPr>
          <a:xfrm>
            <a:off x="270000" y="212725"/>
            <a:ext cx="8604000" cy="4750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chemeClr val="dk2"/>
                </a:solidFill>
              </a:rPr>
              <a:t>The task has 40 rounds. </a:t>
            </a:r>
            <a:r>
              <a:rPr lang="ja" b="1">
                <a:solidFill>
                  <a:schemeClr val="dk2"/>
                </a:solidFill>
              </a:rPr>
              <a:t>In each round, you have to choose between two lotteries with different prizes and odds.</a:t>
            </a:r>
            <a:endParaRPr b="1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ja">
                <a:solidFill>
                  <a:schemeClr val="dk2"/>
                </a:solidFill>
              </a:rPr>
              <a:t>We will not tell you the exact odds of each lottery. </a:t>
            </a:r>
            <a:r>
              <a:rPr lang="ja" b="1">
                <a:solidFill>
                  <a:schemeClr val="dk2"/>
                </a:solidFill>
              </a:rPr>
              <a:t>Instead, you can try out the lotteries before deciding which one you want to play.</a:t>
            </a:r>
            <a:endParaRPr b="1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ja"/>
              <a:t>After enough tries, play the lottery you prefer.</a:t>
            </a:r>
            <a:br>
              <a:rPr lang="ja" b="1">
                <a:solidFill>
                  <a:srgbClr val="0D6EFD"/>
                </a:solidFill>
              </a:rPr>
            </a:br>
            <a:r>
              <a:rPr lang="ja" b="1">
                <a:solidFill>
                  <a:srgbClr val="0D6EFD"/>
                </a:solidFill>
              </a:rPr>
              <a:t>The prize will be your bonus.</a:t>
            </a:r>
            <a:endParaRPr b="1">
              <a:solidFill>
                <a:srgbClr val="0D6EFD"/>
              </a:solidFill>
            </a:endParaRPr>
          </a:p>
        </p:txBody>
      </p:sp>
      <p:sp>
        <p:nvSpPr>
          <p:cNvPr id="135" name="Google Shape;135;p31" title="PROGRESS_BAR_ID"/>
          <p:cNvSpPr/>
          <p:nvPr/>
        </p:nvSpPr>
        <p:spPr>
          <a:xfrm>
            <a:off x="0" y="4953000"/>
            <a:ext cx="1354800" cy="1905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2A0B9227-C9AF-9D94-0C3F-24FF64FD151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 smtClean="0"/>
              <a:t>5</a:t>
            </a:fld>
            <a:endParaRPr lang="ja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2"/>
          <p:cNvSpPr txBox="1">
            <a:spLocks noGrp="1"/>
          </p:cNvSpPr>
          <p:nvPr>
            <p:ph type="ctrTitle"/>
          </p:nvPr>
        </p:nvSpPr>
        <p:spPr>
          <a:xfrm>
            <a:off x="311708" y="1308050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How to try out and play a lottery</a:t>
            </a:r>
            <a:endParaRPr/>
          </a:p>
        </p:txBody>
      </p:sp>
      <p:sp>
        <p:nvSpPr>
          <p:cNvPr id="141" name="Google Shape;141;p32"/>
          <p:cNvSpPr txBox="1">
            <a:spLocks noGrp="1"/>
          </p:cNvSpPr>
          <p:nvPr>
            <p:ph type="subTitle" idx="1"/>
          </p:nvPr>
        </p:nvSpPr>
        <p:spPr>
          <a:xfrm>
            <a:off x="270000" y="3181350"/>
            <a:ext cx="8520600" cy="113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32" title="PROGRESS_BAR_ID"/>
          <p:cNvSpPr/>
          <p:nvPr/>
        </p:nvSpPr>
        <p:spPr>
          <a:xfrm>
            <a:off x="0" y="4953000"/>
            <a:ext cx="1693200" cy="1905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3"/>
          <p:cNvSpPr txBox="1">
            <a:spLocks noGrp="1"/>
          </p:cNvSpPr>
          <p:nvPr>
            <p:ph type="body" idx="1"/>
          </p:nvPr>
        </p:nvSpPr>
        <p:spPr>
          <a:xfrm>
            <a:off x="3531425" y="597900"/>
            <a:ext cx="5342700" cy="39477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ja"/>
              <a:t>First, the number of the current round is displayed.</a:t>
            </a:r>
            <a:endParaRPr/>
          </a:p>
        </p:txBody>
      </p:sp>
      <p:sp>
        <p:nvSpPr>
          <p:cNvPr id="148" name="Google Shape;148;p33"/>
          <p:cNvSpPr/>
          <p:nvPr/>
        </p:nvSpPr>
        <p:spPr>
          <a:xfrm>
            <a:off x="270000" y="597900"/>
            <a:ext cx="2880000" cy="21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3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Round 1/40</a:t>
            </a:r>
            <a:endParaRPr sz="3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" name="Google Shape;150;p33" title="PROGRESS_BAR_ID"/>
          <p:cNvSpPr/>
          <p:nvPr/>
        </p:nvSpPr>
        <p:spPr>
          <a:xfrm>
            <a:off x="0" y="4953000"/>
            <a:ext cx="2031900" cy="1905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4CE87F36-ACF2-5AEA-C3B5-8589B6C5F25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 smtClean="0"/>
              <a:t>7</a:t>
            </a:fld>
            <a:endParaRPr lang="ja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4"/>
          <p:cNvSpPr/>
          <p:nvPr/>
        </p:nvSpPr>
        <p:spPr>
          <a:xfrm>
            <a:off x="270000" y="597900"/>
            <a:ext cx="2880000" cy="21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6" name="Google Shape;156;p34"/>
          <p:cNvSpPr/>
          <p:nvPr/>
        </p:nvSpPr>
        <p:spPr>
          <a:xfrm>
            <a:off x="630000" y="1317900"/>
            <a:ext cx="720000" cy="720000"/>
          </a:xfrm>
          <a:prstGeom prst="rect">
            <a:avLst/>
          </a:prstGeom>
          <a:noFill/>
          <a:ln w="3810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34"/>
          <p:cNvSpPr/>
          <p:nvPr/>
        </p:nvSpPr>
        <p:spPr>
          <a:xfrm>
            <a:off x="2070000" y="1317900"/>
            <a:ext cx="720000" cy="720000"/>
          </a:xfrm>
          <a:prstGeom prst="rect">
            <a:avLst/>
          </a:prstGeom>
          <a:noFill/>
          <a:ln w="3810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34"/>
          <p:cNvSpPr txBox="1">
            <a:spLocks noGrp="1"/>
          </p:cNvSpPr>
          <p:nvPr>
            <p:ph type="body" idx="1"/>
          </p:nvPr>
        </p:nvSpPr>
        <p:spPr>
          <a:xfrm>
            <a:off x="3531425" y="597900"/>
            <a:ext cx="5342700" cy="39477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Next, two squares appear.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ja"/>
              <a:t>Each square represents a lottery.</a:t>
            </a:r>
            <a:endParaRPr/>
          </a:p>
        </p:txBody>
      </p:sp>
      <p:sp>
        <p:nvSpPr>
          <p:cNvPr id="160" name="Google Shape;160;p34" title="PROGRESS_BAR_ID"/>
          <p:cNvSpPr/>
          <p:nvPr/>
        </p:nvSpPr>
        <p:spPr>
          <a:xfrm>
            <a:off x="0" y="4953000"/>
            <a:ext cx="2370600" cy="1905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55CBBE33-3957-6AEF-BDEE-C9121220B2C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 smtClean="0"/>
              <a:t>8</a:t>
            </a:fld>
            <a:endParaRPr lang="ja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5"/>
          <p:cNvSpPr txBox="1">
            <a:spLocks noGrp="1"/>
          </p:cNvSpPr>
          <p:nvPr>
            <p:ph type="body" idx="1"/>
          </p:nvPr>
        </p:nvSpPr>
        <p:spPr>
          <a:xfrm>
            <a:off x="3531425" y="597900"/>
            <a:ext cx="5342700" cy="39477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ja"/>
              <a:t>To try out the left lottery,</a:t>
            </a:r>
            <a:br>
              <a:rPr lang="ja"/>
            </a:br>
            <a:r>
              <a:rPr lang="ja"/>
              <a:t>press the </a:t>
            </a:r>
            <a:r>
              <a:rPr lang="ja" b="1">
                <a:solidFill>
                  <a:srgbClr val="0D6EFD"/>
                </a:solidFill>
              </a:rPr>
              <a:t>left arrow</a:t>
            </a:r>
            <a:r>
              <a:rPr lang="ja"/>
              <a:t> key.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ja"/>
              <a:t>To try out the right lottery,</a:t>
            </a:r>
            <a:br>
              <a:rPr lang="ja"/>
            </a:br>
            <a:r>
              <a:rPr lang="ja"/>
              <a:t>press the </a:t>
            </a:r>
            <a:r>
              <a:rPr lang="ja" b="1">
                <a:solidFill>
                  <a:srgbClr val="0D6EFD"/>
                </a:solidFill>
              </a:rPr>
              <a:t>right arrow</a:t>
            </a:r>
            <a:r>
              <a:rPr lang="ja"/>
              <a:t> key.</a:t>
            </a:r>
            <a:endParaRPr/>
          </a:p>
        </p:txBody>
      </p:sp>
      <p:pic>
        <p:nvPicPr>
          <p:cNvPr id="166" name="Google Shape;166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2700000" flipH="1">
            <a:off x="2309125" y="3485738"/>
            <a:ext cx="720001" cy="720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2700000">
            <a:off x="390875" y="3485738"/>
            <a:ext cx="720001" cy="720001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35"/>
          <p:cNvSpPr/>
          <p:nvPr/>
        </p:nvSpPr>
        <p:spPr>
          <a:xfrm>
            <a:off x="720000" y="2941600"/>
            <a:ext cx="540000" cy="5400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9" name="Google Shape;169;p35"/>
          <p:cNvSpPr/>
          <p:nvPr/>
        </p:nvSpPr>
        <p:spPr>
          <a:xfrm>
            <a:off x="2160000" y="2941600"/>
            <a:ext cx="540000" cy="5400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0" name="Google Shape;170;p35"/>
          <p:cNvSpPr/>
          <p:nvPr/>
        </p:nvSpPr>
        <p:spPr>
          <a:xfrm rot="5400000">
            <a:off x="2273238" y="3110650"/>
            <a:ext cx="351900" cy="201900"/>
          </a:xfrm>
          <a:prstGeom prst="triangle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35"/>
          <p:cNvSpPr/>
          <p:nvPr/>
        </p:nvSpPr>
        <p:spPr>
          <a:xfrm rot="-5400000" flipH="1">
            <a:off x="795000" y="3110650"/>
            <a:ext cx="351900" cy="201900"/>
          </a:xfrm>
          <a:prstGeom prst="triangle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35"/>
          <p:cNvSpPr txBox="1"/>
          <p:nvPr/>
        </p:nvSpPr>
        <p:spPr>
          <a:xfrm>
            <a:off x="848700" y="3986225"/>
            <a:ext cx="4945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Left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3" name="Google Shape;173;p35"/>
          <p:cNvSpPr txBox="1"/>
          <p:nvPr/>
        </p:nvSpPr>
        <p:spPr>
          <a:xfrm>
            <a:off x="1845675" y="3986225"/>
            <a:ext cx="4945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Right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4" name="Google Shape;174;p35"/>
          <p:cNvSpPr/>
          <p:nvPr/>
        </p:nvSpPr>
        <p:spPr>
          <a:xfrm>
            <a:off x="270000" y="597900"/>
            <a:ext cx="2880000" cy="21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5" name="Google Shape;175;p35"/>
          <p:cNvSpPr/>
          <p:nvPr/>
        </p:nvSpPr>
        <p:spPr>
          <a:xfrm>
            <a:off x="630000" y="1317900"/>
            <a:ext cx="720000" cy="720000"/>
          </a:xfrm>
          <a:prstGeom prst="rect">
            <a:avLst/>
          </a:prstGeom>
          <a:noFill/>
          <a:ln w="3810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35"/>
          <p:cNvSpPr/>
          <p:nvPr/>
        </p:nvSpPr>
        <p:spPr>
          <a:xfrm>
            <a:off x="2070000" y="1317900"/>
            <a:ext cx="720000" cy="720000"/>
          </a:xfrm>
          <a:prstGeom prst="rect">
            <a:avLst/>
          </a:prstGeom>
          <a:noFill/>
          <a:ln w="3810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35" title="PROGRESS_BAR_ID"/>
          <p:cNvSpPr/>
          <p:nvPr/>
        </p:nvSpPr>
        <p:spPr>
          <a:xfrm>
            <a:off x="0" y="4953000"/>
            <a:ext cx="2709300" cy="1905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806CCB4F-219A-E3EF-74A5-C9F7A381EB6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 smtClean="0"/>
              <a:t>9</a:t>
            </a:fld>
            <a:endParaRPr lang="ja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6"/>
          <p:cNvSpPr txBox="1">
            <a:spLocks noGrp="1"/>
          </p:cNvSpPr>
          <p:nvPr>
            <p:ph type="body" idx="1"/>
          </p:nvPr>
        </p:nvSpPr>
        <p:spPr>
          <a:xfrm>
            <a:off x="3531425" y="597900"/>
            <a:ext cx="5342700" cy="39477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ja"/>
              <a:t>When you try out a lottery,</a:t>
            </a:r>
            <a:br>
              <a:rPr lang="ja"/>
            </a:br>
            <a:r>
              <a:rPr lang="ja">
                <a:solidFill>
                  <a:srgbClr val="444746"/>
                </a:solidFill>
              </a:rPr>
              <a:t>you will see the prize that you would have won if you had played the lottery</a:t>
            </a:r>
            <a:r>
              <a:rPr lang="ja"/>
              <a:t>.</a:t>
            </a:r>
            <a:endParaRPr/>
          </a:p>
        </p:txBody>
      </p:sp>
      <p:pic>
        <p:nvPicPr>
          <p:cNvPr id="184" name="Google Shape;184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2700000">
            <a:off x="390875" y="3485738"/>
            <a:ext cx="720001" cy="720001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36"/>
          <p:cNvSpPr txBox="1"/>
          <p:nvPr/>
        </p:nvSpPr>
        <p:spPr>
          <a:xfrm>
            <a:off x="720011" y="3404700"/>
            <a:ext cx="10119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3000" b="1">
                <a:solidFill>
                  <a:srgbClr val="0D6EFD"/>
                </a:solidFill>
                <a:latin typeface="Roboto"/>
                <a:ea typeface="Roboto"/>
                <a:cs typeface="Roboto"/>
                <a:sym typeface="Roboto"/>
              </a:rPr>
              <a:t>!!</a:t>
            </a:r>
            <a:endParaRPr sz="3000" b="1">
              <a:solidFill>
                <a:srgbClr val="0D6EF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6" name="Google Shape;186;p36"/>
          <p:cNvSpPr/>
          <p:nvPr/>
        </p:nvSpPr>
        <p:spPr>
          <a:xfrm>
            <a:off x="2160000" y="2941600"/>
            <a:ext cx="540000" cy="5400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7" name="Google Shape;187;p36"/>
          <p:cNvSpPr/>
          <p:nvPr/>
        </p:nvSpPr>
        <p:spPr>
          <a:xfrm rot="5400000">
            <a:off x="2273238" y="3110650"/>
            <a:ext cx="351900" cy="201900"/>
          </a:xfrm>
          <a:prstGeom prst="triangle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88" name="Google Shape;188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2700000" flipH="1">
            <a:off x="2309126" y="3485737"/>
            <a:ext cx="719999" cy="719999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36"/>
          <p:cNvSpPr/>
          <p:nvPr/>
        </p:nvSpPr>
        <p:spPr>
          <a:xfrm flipH="1">
            <a:off x="720000" y="2941600"/>
            <a:ext cx="540000" cy="5400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38100" cap="flat" cmpd="sng">
            <a:solidFill>
              <a:srgbClr val="0D6EF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0" name="Google Shape;190;p36"/>
          <p:cNvSpPr/>
          <p:nvPr/>
        </p:nvSpPr>
        <p:spPr>
          <a:xfrm rot="-5400000" flipH="1">
            <a:off x="794863" y="3110650"/>
            <a:ext cx="351900" cy="201900"/>
          </a:xfrm>
          <a:prstGeom prst="triangle">
            <a:avLst>
              <a:gd name="adj" fmla="val 50000"/>
            </a:avLst>
          </a:prstGeom>
          <a:solidFill>
            <a:srgbClr val="0D6E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36"/>
          <p:cNvSpPr txBox="1"/>
          <p:nvPr/>
        </p:nvSpPr>
        <p:spPr>
          <a:xfrm>
            <a:off x="848700" y="3986225"/>
            <a:ext cx="4945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2400">
                <a:solidFill>
                  <a:srgbClr val="0D6EFD"/>
                </a:solidFill>
                <a:latin typeface="Roboto"/>
                <a:ea typeface="Roboto"/>
                <a:cs typeface="Roboto"/>
                <a:sym typeface="Roboto"/>
              </a:rPr>
              <a:t>Left</a:t>
            </a:r>
            <a:endParaRPr sz="2400">
              <a:solidFill>
                <a:srgbClr val="0D6EF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2" name="Google Shape;192;p36"/>
          <p:cNvSpPr txBox="1"/>
          <p:nvPr/>
        </p:nvSpPr>
        <p:spPr>
          <a:xfrm>
            <a:off x="1845675" y="3986225"/>
            <a:ext cx="4945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24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Right</a:t>
            </a:r>
            <a:endParaRPr sz="24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3" name="Google Shape;193;p36"/>
          <p:cNvSpPr/>
          <p:nvPr/>
        </p:nvSpPr>
        <p:spPr>
          <a:xfrm>
            <a:off x="270000" y="597900"/>
            <a:ext cx="2880000" cy="21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4" name="Google Shape;194;p36"/>
          <p:cNvSpPr/>
          <p:nvPr/>
        </p:nvSpPr>
        <p:spPr>
          <a:xfrm>
            <a:off x="630000" y="1317900"/>
            <a:ext cx="720000" cy="720000"/>
          </a:xfrm>
          <a:prstGeom prst="rect">
            <a:avLst/>
          </a:prstGeom>
          <a:noFill/>
          <a:ln w="76200" cap="flat" cmpd="sng">
            <a:solidFill>
              <a:srgbClr val="0D6EF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3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 sz="3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5" name="Google Shape;195;p36"/>
          <p:cNvSpPr/>
          <p:nvPr/>
        </p:nvSpPr>
        <p:spPr>
          <a:xfrm>
            <a:off x="2070000" y="1317900"/>
            <a:ext cx="720000" cy="720000"/>
          </a:xfrm>
          <a:prstGeom prst="rect">
            <a:avLst/>
          </a:prstGeom>
          <a:noFill/>
          <a:ln w="3810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36" title="PROGRESS_BAR_ID"/>
          <p:cNvSpPr/>
          <p:nvPr/>
        </p:nvSpPr>
        <p:spPr>
          <a:xfrm>
            <a:off x="0" y="4953000"/>
            <a:ext cx="3048000" cy="1905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6FE57038-457E-C49A-7F3B-B61F37D879C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 smtClean="0"/>
              <a:t>10</a:t>
            </a:fld>
            <a:endParaRPr lang="ja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7"/>
          <p:cNvSpPr txBox="1">
            <a:spLocks noGrp="1"/>
          </p:cNvSpPr>
          <p:nvPr>
            <p:ph type="body" idx="1"/>
          </p:nvPr>
        </p:nvSpPr>
        <p:spPr>
          <a:xfrm>
            <a:off x="3531425" y="597900"/>
            <a:ext cx="5342700" cy="39477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chemeClr val="dk2"/>
                </a:solidFill>
              </a:rPr>
              <a:t>When you try out a lottery,</a:t>
            </a:r>
            <a:br>
              <a:rPr lang="ja">
                <a:solidFill>
                  <a:schemeClr val="dk2"/>
                </a:solidFill>
              </a:rPr>
            </a:br>
            <a:r>
              <a:rPr lang="ja">
                <a:solidFill>
                  <a:schemeClr val="dk2"/>
                </a:solidFill>
              </a:rPr>
              <a:t>you will see the prize that you would have won if you had played the lottery.</a:t>
            </a:r>
            <a:endParaRPr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ja"/>
              <a:t>In the example, you are trying out the left lottery, and you would have won 3 points.</a:t>
            </a:r>
            <a:endParaRPr/>
          </a:p>
        </p:txBody>
      </p:sp>
      <p:pic>
        <p:nvPicPr>
          <p:cNvPr id="203" name="Google Shape;203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2700000">
            <a:off x="390875" y="3485738"/>
            <a:ext cx="720001" cy="720001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37"/>
          <p:cNvSpPr txBox="1"/>
          <p:nvPr/>
        </p:nvSpPr>
        <p:spPr>
          <a:xfrm>
            <a:off x="720011" y="3404700"/>
            <a:ext cx="10119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3000" b="1">
                <a:solidFill>
                  <a:srgbClr val="0D6EFD"/>
                </a:solidFill>
                <a:latin typeface="Roboto"/>
                <a:ea typeface="Roboto"/>
                <a:cs typeface="Roboto"/>
                <a:sym typeface="Roboto"/>
              </a:rPr>
              <a:t>!!</a:t>
            </a:r>
            <a:endParaRPr sz="3000" b="1">
              <a:solidFill>
                <a:srgbClr val="0D6EF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5" name="Google Shape;205;p37"/>
          <p:cNvSpPr/>
          <p:nvPr/>
        </p:nvSpPr>
        <p:spPr>
          <a:xfrm>
            <a:off x="2160000" y="2941600"/>
            <a:ext cx="540000" cy="5400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6" name="Google Shape;206;p37"/>
          <p:cNvSpPr/>
          <p:nvPr/>
        </p:nvSpPr>
        <p:spPr>
          <a:xfrm rot="5400000">
            <a:off x="2273238" y="3110650"/>
            <a:ext cx="351900" cy="201900"/>
          </a:xfrm>
          <a:prstGeom prst="triangle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7" name="Google Shape;207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2700000" flipH="1">
            <a:off x="2309126" y="3485737"/>
            <a:ext cx="719999" cy="719999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37"/>
          <p:cNvSpPr/>
          <p:nvPr/>
        </p:nvSpPr>
        <p:spPr>
          <a:xfrm flipH="1">
            <a:off x="720000" y="2941600"/>
            <a:ext cx="540000" cy="5400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38100" cap="flat" cmpd="sng">
            <a:solidFill>
              <a:srgbClr val="0D6EF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9" name="Google Shape;209;p37"/>
          <p:cNvSpPr/>
          <p:nvPr/>
        </p:nvSpPr>
        <p:spPr>
          <a:xfrm rot="-5400000" flipH="1">
            <a:off x="794863" y="3110650"/>
            <a:ext cx="351900" cy="201900"/>
          </a:xfrm>
          <a:prstGeom prst="triangle">
            <a:avLst>
              <a:gd name="adj" fmla="val 50000"/>
            </a:avLst>
          </a:prstGeom>
          <a:solidFill>
            <a:srgbClr val="0D6E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37"/>
          <p:cNvSpPr txBox="1"/>
          <p:nvPr/>
        </p:nvSpPr>
        <p:spPr>
          <a:xfrm>
            <a:off x="848700" y="3986225"/>
            <a:ext cx="4945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2400">
                <a:solidFill>
                  <a:srgbClr val="0D6EFD"/>
                </a:solidFill>
                <a:latin typeface="Roboto"/>
                <a:ea typeface="Roboto"/>
                <a:cs typeface="Roboto"/>
                <a:sym typeface="Roboto"/>
              </a:rPr>
              <a:t>Left</a:t>
            </a:r>
            <a:endParaRPr sz="2400">
              <a:solidFill>
                <a:srgbClr val="0D6EF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1" name="Google Shape;211;p37"/>
          <p:cNvSpPr txBox="1"/>
          <p:nvPr/>
        </p:nvSpPr>
        <p:spPr>
          <a:xfrm>
            <a:off x="1845675" y="3986225"/>
            <a:ext cx="4945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24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Right</a:t>
            </a:r>
            <a:endParaRPr sz="24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2" name="Google Shape;212;p37"/>
          <p:cNvSpPr/>
          <p:nvPr/>
        </p:nvSpPr>
        <p:spPr>
          <a:xfrm>
            <a:off x="270000" y="597900"/>
            <a:ext cx="2880000" cy="21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3" name="Google Shape;213;p37"/>
          <p:cNvSpPr/>
          <p:nvPr/>
        </p:nvSpPr>
        <p:spPr>
          <a:xfrm>
            <a:off x="630000" y="1317900"/>
            <a:ext cx="720000" cy="720000"/>
          </a:xfrm>
          <a:prstGeom prst="rect">
            <a:avLst/>
          </a:prstGeom>
          <a:noFill/>
          <a:ln w="76200" cap="flat" cmpd="sng">
            <a:solidFill>
              <a:srgbClr val="0D6EF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3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 sz="3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4" name="Google Shape;214;p37"/>
          <p:cNvSpPr/>
          <p:nvPr/>
        </p:nvSpPr>
        <p:spPr>
          <a:xfrm>
            <a:off x="2070000" y="1317900"/>
            <a:ext cx="720000" cy="720000"/>
          </a:xfrm>
          <a:prstGeom prst="rect">
            <a:avLst/>
          </a:prstGeom>
          <a:noFill/>
          <a:ln w="3810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37" title="PROGRESS_BAR_ID"/>
          <p:cNvSpPr/>
          <p:nvPr/>
        </p:nvSpPr>
        <p:spPr>
          <a:xfrm>
            <a:off x="0" y="4953000"/>
            <a:ext cx="3386700" cy="1905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C9CE5980-E285-19CE-92EE-C22C9F22C55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 smtClean="0"/>
              <a:t>11</a:t>
            </a:fld>
            <a:endParaRPr lang="ja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8"/>
          <p:cNvSpPr txBox="1">
            <a:spLocks noGrp="1"/>
          </p:cNvSpPr>
          <p:nvPr>
            <p:ph type="body" idx="1"/>
          </p:nvPr>
        </p:nvSpPr>
        <p:spPr>
          <a:xfrm>
            <a:off x="3531425" y="597900"/>
            <a:ext cx="5342700" cy="39477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ja"/>
              <a:t>Playing the same lottery again may result in a different prize. In this case 2 points.</a:t>
            </a:r>
            <a:endParaRPr/>
          </a:p>
        </p:txBody>
      </p:sp>
      <p:pic>
        <p:nvPicPr>
          <p:cNvPr id="222" name="Google Shape;222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2700000">
            <a:off x="390875" y="3485738"/>
            <a:ext cx="720001" cy="720001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38"/>
          <p:cNvSpPr txBox="1"/>
          <p:nvPr/>
        </p:nvSpPr>
        <p:spPr>
          <a:xfrm>
            <a:off x="720011" y="3404700"/>
            <a:ext cx="10119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3000" b="1">
                <a:solidFill>
                  <a:srgbClr val="0D6EFD"/>
                </a:solidFill>
                <a:latin typeface="Roboto"/>
                <a:ea typeface="Roboto"/>
                <a:cs typeface="Roboto"/>
                <a:sym typeface="Roboto"/>
              </a:rPr>
              <a:t>!!</a:t>
            </a:r>
            <a:endParaRPr sz="3000" b="1">
              <a:solidFill>
                <a:srgbClr val="0D6EF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4" name="Google Shape;224;p38"/>
          <p:cNvSpPr/>
          <p:nvPr/>
        </p:nvSpPr>
        <p:spPr>
          <a:xfrm>
            <a:off x="2160000" y="2941600"/>
            <a:ext cx="540000" cy="5400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5" name="Google Shape;225;p38"/>
          <p:cNvSpPr/>
          <p:nvPr/>
        </p:nvSpPr>
        <p:spPr>
          <a:xfrm rot="5400000">
            <a:off x="2273238" y="3110650"/>
            <a:ext cx="351900" cy="201900"/>
          </a:xfrm>
          <a:prstGeom prst="triangle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6" name="Google Shape;226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2700000" flipH="1">
            <a:off x="2309126" y="3485737"/>
            <a:ext cx="719999" cy="719999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38"/>
          <p:cNvSpPr/>
          <p:nvPr/>
        </p:nvSpPr>
        <p:spPr>
          <a:xfrm flipH="1">
            <a:off x="720000" y="2941600"/>
            <a:ext cx="540000" cy="5400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38100" cap="flat" cmpd="sng">
            <a:solidFill>
              <a:srgbClr val="0D6EF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8" name="Google Shape;228;p38"/>
          <p:cNvSpPr/>
          <p:nvPr/>
        </p:nvSpPr>
        <p:spPr>
          <a:xfrm rot="-5400000" flipH="1">
            <a:off x="794863" y="3110650"/>
            <a:ext cx="351900" cy="201900"/>
          </a:xfrm>
          <a:prstGeom prst="triangle">
            <a:avLst>
              <a:gd name="adj" fmla="val 50000"/>
            </a:avLst>
          </a:prstGeom>
          <a:solidFill>
            <a:srgbClr val="0D6E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38"/>
          <p:cNvSpPr txBox="1"/>
          <p:nvPr/>
        </p:nvSpPr>
        <p:spPr>
          <a:xfrm>
            <a:off x="848700" y="3986225"/>
            <a:ext cx="4945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2400">
                <a:solidFill>
                  <a:srgbClr val="0D6EFD"/>
                </a:solidFill>
                <a:latin typeface="Roboto"/>
                <a:ea typeface="Roboto"/>
                <a:cs typeface="Roboto"/>
                <a:sym typeface="Roboto"/>
              </a:rPr>
              <a:t>Left</a:t>
            </a:r>
            <a:endParaRPr sz="2400">
              <a:solidFill>
                <a:srgbClr val="0D6EF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0" name="Google Shape;230;p38"/>
          <p:cNvSpPr txBox="1"/>
          <p:nvPr/>
        </p:nvSpPr>
        <p:spPr>
          <a:xfrm>
            <a:off x="1845675" y="3986225"/>
            <a:ext cx="4945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24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Right</a:t>
            </a:r>
            <a:endParaRPr sz="24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1" name="Google Shape;231;p38"/>
          <p:cNvSpPr/>
          <p:nvPr/>
        </p:nvSpPr>
        <p:spPr>
          <a:xfrm>
            <a:off x="270000" y="597900"/>
            <a:ext cx="2880000" cy="21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2" name="Google Shape;232;p38"/>
          <p:cNvSpPr/>
          <p:nvPr/>
        </p:nvSpPr>
        <p:spPr>
          <a:xfrm>
            <a:off x="630000" y="1317900"/>
            <a:ext cx="720000" cy="720000"/>
          </a:xfrm>
          <a:prstGeom prst="rect">
            <a:avLst/>
          </a:prstGeom>
          <a:noFill/>
          <a:ln w="76200" cap="flat" cmpd="sng">
            <a:solidFill>
              <a:srgbClr val="0D6EF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3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sz="3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3" name="Google Shape;233;p38"/>
          <p:cNvSpPr/>
          <p:nvPr/>
        </p:nvSpPr>
        <p:spPr>
          <a:xfrm>
            <a:off x="2070000" y="1317900"/>
            <a:ext cx="720000" cy="720000"/>
          </a:xfrm>
          <a:prstGeom prst="rect">
            <a:avLst/>
          </a:prstGeom>
          <a:noFill/>
          <a:ln w="3810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38" title="PROGRESS_BAR_ID"/>
          <p:cNvSpPr/>
          <p:nvPr/>
        </p:nvSpPr>
        <p:spPr>
          <a:xfrm>
            <a:off x="0" y="4953000"/>
            <a:ext cx="3725400" cy="1905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BBA32F63-DC8A-344E-4450-2A4A925E26B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 smtClean="0"/>
              <a:t>12</a:t>
            </a:fld>
            <a:endParaRPr lang="ja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2700000">
            <a:off x="390875" y="3485738"/>
            <a:ext cx="720001" cy="720001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39"/>
          <p:cNvSpPr txBox="1"/>
          <p:nvPr/>
        </p:nvSpPr>
        <p:spPr>
          <a:xfrm>
            <a:off x="720011" y="3404700"/>
            <a:ext cx="10119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3000" b="1">
                <a:solidFill>
                  <a:srgbClr val="0D6EFD"/>
                </a:solidFill>
                <a:latin typeface="Roboto"/>
                <a:ea typeface="Roboto"/>
                <a:cs typeface="Roboto"/>
                <a:sym typeface="Roboto"/>
              </a:rPr>
              <a:t>!!</a:t>
            </a:r>
            <a:endParaRPr sz="3000" b="1">
              <a:solidFill>
                <a:srgbClr val="0D6EF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2" name="Google Shape;242;p39"/>
          <p:cNvSpPr/>
          <p:nvPr/>
        </p:nvSpPr>
        <p:spPr>
          <a:xfrm>
            <a:off x="2160000" y="2941600"/>
            <a:ext cx="540000" cy="5400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3" name="Google Shape;243;p39"/>
          <p:cNvSpPr/>
          <p:nvPr/>
        </p:nvSpPr>
        <p:spPr>
          <a:xfrm rot="5400000">
            <a:off x="2273238" y="3110650"/>
            <a:ext cx="351900" cy="201900"/>
          </a:xfrm>
          <a:prstGeom prst="triangle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44" name="Google Shape;244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2700000" flipH="1">
            <a:off x="2309126" y="3485737"/>
            <a:ext cx="719999" cy="719999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39"/>
          <p:cNvSpPr/>
          <p:nvPr/>
        </p:nvSpPr>
        <p:spPr>
          <a:xfrm flipH="1">
            <a:off x="720000" y="2941600"/>
            <a:ext cx="540000" cy="5400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38100" cap="flat" cmpd="sng">
            <a:solidFill>
              <a:srgbClr val="0D6EF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6" name="Google Shape;246;p39"/>
          <p:cNvSpPr/>
          <p:nvPr/>
        </p:nvSpPr>
        <p:spPr>
          <a:xfrm rot="-5400000" flipH="1">
            <a:off x="794863" y="3110650"/>
            <a:ext cx="351900" cy="201900"/>
          </a:xfrm>
          <a:prstGeom prst="triangle">
            <a:avLst>
              <a:gd name="adj" fmla="val 50000"/>
            </a:avLst>
          </a:prstGeom>
          <a:solidFill>
            <a:srgbClr val="0D6E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39"/>
          <p:cNvSpPr txBox="1"/>
          <p:nvPr/>
        </p:nvSpPr>
        <p:spPr>
          <a:xfrm>
            <a:off x="848700" y="3986225"/>
            <a:ext cx="4945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2400">
                <a:solidFill>
                  <a:srgbClr val="0D6EFD"/>
                </a:solidFill>
                <a:latin typeface="Roboto"/>
                <a:ea typeface="Roboto"/>
                <a:cs typeface="Roboto"/>
                <a:sym typeface="Roboto"/>
              </a:rPr>
              <a:t>Left</a:t>
            </a:r>
            <a:endParaRPr sz="2400">
              <a:solidFill>
                <a:srgbClr val="0D6EF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8" name="Google Shape;248;p39"/>
          <p:cNvSpPr txBox="1"/>
          <p:nvPr/>
        </p:nvSpPr>
        <p:spPr>
          <a:xfrm>
            <a:off x="1845675" y="3986225"/>
            <a:ext cx="4945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24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Right</a:t>
            </a:r>
            <a:endParaRPr sz="24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9" name="Google Shape;249;p39"/>
          <p:cNvSpPr/>
          <p:nvPr/>
        </p:nvSpPr>
        <p:spPr>
          <a:xfrm>
            <a:off x="270000" y="597900"/>
            <a:ext cx="2880000" cy="21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0" name="Google Shape;250;p39"/>
          <p:cNvSpPr/>
          <p:nvPr/>
        </p:nvSpPr>
        <p:spPr>
          <a:xfrm>
            <a:off x="630000" y="1317900"/>
            <a:ext cx="720000" cy="720000"/>
          </a:xfrm>
          <a:prstGeom prst="rect">
            <a:avLst/>
          </a:prstGeom>
          <a:noFill/>
          <a:ln w="76200" cap="flat" cmpd="sng">
            <a:solidFill>
              <a:srgbClr val="0D6EF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3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sz="3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1" name="Google Shape;251;p39"/>
          <p:cNvSpPr/>
          <p:nvPr/>
        </p:nvSpPr>
        <p:spPr>
          <a:xfrm>
            <a:off x="2070000" y="1317900"/>
            <a:ext cx="720000" cy="720000"/>
          </a:xfrm>
          <a:prstGeom prst="rect">
            <a:avLst/>
          </a:prstGeom>
          <a:noFill/>
          <a:ln w="3810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39"/>
          <p:cNvSpPr txBox="1">
            <a:spLocks noGrp="1"/>
          </p:cNvSpPr>
          <p:nvPr>
            <p:ph type="body" idx="1"/>
          </p:nvPr>
        </p:nvSpPr>
        <p:spPr>
          <a:xfrm>
            <a:off x="3531425" y="597900"/>
            <a:ext cx="5342700" cy="39477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chemeClr val="dk2"/>
                </a:solidFill>
              </a:rPr>
              <a:t>Playing the same lottery again may result in a different prize. In this case 2 points.</a:t>
            </a:r>
            <a:endParaRPr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ja"/>
              <a:t>So, </a:t>
            </a:r>
            <a:r>
              <a:rPr lang="ja" b="1">
                <a:solidFill>
                  <a:srgbClr val="0D6EFD"/>
                </a:solidFill>
              </a:rPr>
              <a:t>a lottery will not necessarily show the same points every time you try.</a:t>
            </a:r>
            <a:endParaRPr/>
          </a:p>
        </p:txBody>
      </p:sp>
      <p:sp>
        <p:nvSpPr>
          <p:cNvPr id="254" name="Google Shape;254;p39" title="PROGRESS_BAR_ID"/>
          <p:cNvSpPr/>
          <p:nvPr/>
        </p:nvSpPr>
        <p:spPr>
          <a:xfrm>
            <a:off x="0" y="4953000"/>
            <a:ext cx="4064100" cy="1905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A305DED8-C07E-3D97-6ECA-FE7BFEF37B3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 smtClean="0"/>
              <a:t>13</a:t>
            </a:fld>
            <a:endParaRPr lang="ja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9" name="Google Shape;259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2700000" flipH="1">
            <a:off x="2309125" y="3485738"/>
            <a:ext cx="720001" cy="720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2700000">
            <a:off x="390875" y="3485738"/>
            <a:ext cx="720001" cy="720001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40"/>
          <p:cNvSpPr/>
          <p:nvPr/>
        </p:nvSpPr>
        <p:spPr>
          <a:xfrm>
            <a:off x="720000" y="2941600"/>
            <a:ext cx="540000" cy="5400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2" name="Google Shape;262;p40"/>
          <p:cNvSpPr/>
          <p:nvPr/>
        </p:nvSpPr>
        <p:spPr>
          <a:xfrm>
            <a:off x="2160000" y="2941600"/>
            <a:ext cx="540000" cy="5400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3" name="Google Shape;263;p40"/>
          <p:cNvSpPr/>
          <p:nvPr/>
        </p:nvSpPr>
        <p:spPr>
          <a:xfrm rot="5400000">
            <a:off x="2273238" y="3110650"/>
            <a:ext cx="351900" cy="201900"/>
          </a:xfrm>
          <a:prstGeom prst="triangle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40"/>
          <p:cNvSpPr/>
          <p:nvPr/>
        </p:nvSpPr>
        <p:spPr>
          <a:xfrm rot="-5400000" flipH="1">
            <a:off x="795000" y="3110650"/>
            <a:ext cx="351900" cy="201900"/>
          </a:xfrm>
          <a:prstGeom prst="triangle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40"/>
          <p:cNvSpPr txBox="1"/>
          <p:nvPr/>
        </p:nvSpPr>
        <p:spPr>
          <a:xfrm>
            <a:off x="848700" y="3986225"/>
            <a:ext cx="4945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Left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6" name="Google Shape;266;p40"/>
          <p:cNvSpPr txBox="1"/>
          <p:nvPr/>
        </p:nvSpPr>
        <p:spPr>
          <a:xfrm>
            <a:off x="1845675" y="3986225"/>
            <a:ext cx="4945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Right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7" name="Google Shape;267;p40"/>
          <p:cNvSpPr/>
          <p:nvPr/>
        </p:nvSpPr>
        <p:spPr>
          <a:xfrm>
            <a:off x="270000" y="597900"/>
            <a:ext cx="2880000" cy="21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8" name="Google Shape;268;p40"/>
          <p:cNvSpPr/>
          <p:nvPr/>
        </p:nvSpPr>
        <p:spPr>
          <a:xfrm>
            <a:off x="630000" y="1317900"/>
            <a:ext cx="720000" cy="720000"/>
          </a:xfrm>
          <a:prstGeom prst="rect">
            <a:avLst/>
          </a:prstGeom>
          <a:noFill/>
          <a:ln w="3810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40"/>
          <p:cNvSpPr/>
          <p:nvPr/>
        </p:nvSpPr>
        <p:spPr>
          <a:xfrm>
            <a:off x="2070000" y="1317900"/>
            <a:ext cx="720000" cy="720000"/>
          </a:xfrm>
          <a:prstGeom prst="rect">
            <a:avLst/>
          </a:prstGeom>
          <a:noFill/>
          <a:ln w="3810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40"/>
          <p:cNvSpPr txBox="1">
            <a:spLocks noGrp="1"/>
          </p:cNvSpPr>
          <p:nvPr>
            <p:ph type="body" idx="1"/>
          </p:nvPr>
        </p:nvSpPr>
        <p:spPr>
          <a:xfrm>
            <a:off x="3531425" y="597900"/>
            <a:ext cx="5342700" cy="39477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ja" b="1">
                <a:solidFill>
                  <a:srgbClr val="0D6EFD"/>
                </a:solidFill>
              </a:rPr>
              <a:t>Try out the lotteries as many times as you like until you decide which one you want to play.</a:t>
            </a:r>
            <a:endParaRPr/>
          </a:p>
        </p:txBody>
      </p:sp>
      <p:sp>
        <p:nvSpPr>
          <p:cNvPr id="272" name="Google Shape;272;p40" title="PROGRESS_BAR_ID"/>
          <p:cNvSpPr/>
          <p:nvPr/>
        </p:nvSpPr>
        <p:spPr>
          <a:xfrm>
            <a:off x="0" y="4953000"/>
            <a:ext cx="4402800" cy="1905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7D75C96D-54ED-6E93-3F38-9C64098C5DC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 smtClean="0"/>
              <a:t>14</a:t>
            </a:fld>
            <a:endParaRPr lang="ja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7" name="Google Shape;277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2700000" flipH="1">
            <a:off x="2309125" y="3485738"/>
            <a:ext cx="720001" cy="720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2700000">
            <a:off x="390875" y="3485738"/>
            <a:ext cx="720001" cy="720001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41"/>
          <p:cNvSpPr/>
          <p:nvPr/>
        </p:nvSpPr>
        <p:spPr>
          <a:xfrm>
            <a:off x="720000" y="2941600"/>
            <a:ext cx="540000" cy="5400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0" name="Google Shape;280;p41"/>
          <p:cNvSpPr/>
          <p:nvPr/>
        </p:nvSpPr>
        <p:spPr>
          <a:xfrm>
            <a:off x="2160000" y="2941600"/>
            <a:ext cx="540000" cy="5400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1" name="Google Shape;281;p41"/>
          <p:cNvSpPr/>
          <p:nvPr/>
        </p:nvSpPr>
        <p:spPr>
          <a:xfrm rot="5400000">
            <a:off x="2273238" y="3110650"/>
            <a:ext cx="351900" cy="201900"/>
          </a:xfrm>
          <a:prstGeom prst="triangle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41"/>
          <p:cNvSpPr/>
          <p:nvPr/>
        </p:nvSpPr>
        <p:spPr>
          <a:xfrm rot="-5400000" flipH="1">
            <a:off x="795000" y="3110650"/>
            <a:ext cx="351900" cy="201900"/>
          </a:xfrm>
          <a:prstGeom prst="triangle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41"/>
          <p:cNvSpPr txBox="1"/>
          <p:nvPr/>
        </p:nvSpPr>
        <p:spPr>
          <a:xfrm>
            <a:off x="848700" y="3986225"/>
            <a:ext cx="4945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Left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4" name="Google Shape;284;p41"/>
          <p:cNvSpPr txBox="1"/>
          <p:nvPr/>
        </p:nvSpPr>
        <p:spPr>
          <a:xfrm>
            <a:off x="1845675" y="3986225"/>
            <a:ext cx="4945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Right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5" name="Google Shape;285;p41"/>
          <p:cNvSpPr/>
          <p:nvPr/>
        </p:nvSpPr>
        <p:spPr>
          <a:xfrm>
            <a:off x="270000" y="597900"/>
            <a:ext cx="2880000" cy="21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6" name="Google Shape;286;p41"/>
          <p:cNvSpPr/>
          <p:nvPr/>
        </p:nvSpPr>
        <p:spPr>
          <a:xfrm>
            <a:off x="630000" y="1317900"/>
            <a:ext cx="720000" cy="720000"/>
          </a:xfrm>
          <a:prstGeom prst="rect">
            <a:avLst/>
          </a:prstGeom>
          <a:noFill/>
          <a:ln w="3810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41"/>
          <p:cNvSpPr/>
          <p:nvPr/>
        </p:nvSpPr>
        <p:spPr>
          <a:xfrm>
            <a:off x="2070000" y="1317900"/>
            <a:ext cx="720000" cy="720000"/>
          </a:xfrm>
          <a:prstGeom prst="rect">
            <a:avLst/>
          </a:prstGeom>
          <a:noFill/>
          <a:ln w="3810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41"/>
          <p:cNvSpPr txBox="1">
            <a:spLocks noGrp="1"/>
          </p:cNvSpPr>
          <p:nvPr>
            <p:ph type="body" idx="1"/>
          </p:nvPr>
        </p:nvSpPr>
        <p:spPr>
          <a:xfrm>
            <a:off x="3531425" y="597900"/>
            <a:ext cx="5342700" cy="39477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b="1">
                <a:solidFill>
                  <a:schemeClr val="dk2"/>
                </a:solidFill>
              </a:rPr>
              <a:t>Try out the lotteries as many times as you like until you decide which one you want to play.</a:t>
            </a:r>
            <a:endParaRPr b="1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ja"/>
              <a:t>To see the process of trying out the lotteries, watch the video on the next page.</a:t>
            </a:r>
            <a:endParaRPr/>
          </a:p>
        </p:txBody>
      </p:sp>
      <p:sp>
        <p:nvSpPr>
          <p:cNvPr id="290" name="Google Shape;290;p41" title="PROGRESS_BAR_ID"/>
          <p:cNvSpPr/>
          <p:nvPr/>
        </p:nvSpPr>
        <p:spPr>
          <a:xfrm>
            <a:off x="0" y="4953000"/>
            <a:ext cx="4741200" cy="1905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923EA475-53AD-470D-72D6-FAB422DD2DA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 smtClean="0"/>
              <a:t>15</a:t>
            </a:fld>
            <a:endParaRPr lang="ja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2"/>
          <p:cNvSpPr txBox="1">
            <a:spLocks noGrp="1"/>
          </p:cNvSpPr>
          <p:nvPr>
            <p:ph type="title"/>
          </p:nvPr>
        </p:nvSpPr>
        <p:spPr>
          <a:xfrm>
            <a:off x="270000" y="180000"/>
            <a:ext cx="8604000" cy="83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97" name="Google Shape;297;p42" title="sampling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42" title="PROGRESS_BAR_ID"/>
          <p:cNvSpPr/>
          <p:nvPr/>
        </p:nvSpPr>
        <p:spPr>
          <a:xfrm>
            <a:off x="0" y="4953000"/>
            <a:ext cx="5079900" cy="1905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391A0D15-085F-643C-FFB2-3397FD24AA4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 smtClean="0"/>
              <a:t>16</a:t>
            </a:fld>
            <a:endParaRPr lang="ja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3"/>
          <p:cNvSpPr/>
          <p:nvPr/>
        </p:nvSpPr>
        <p:spPr>
          <a:xfrm>
            <a:off x="270000" y="597900"/>
            <a:ext cx="2880000" cy="21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4" name="Google Shape;304;p43"/>
          <p:cNvSpPr/>
          <p:nvPr/>
        </p:nvSpPr>
        <p:spPr>
          <a:xfrm>
            <a:off x="630000" y="1317900"/>
            <a:ext cx="720000" cy="720000"/>
          </a:xfrm>
          <a:prstGeom prst="rect">
            <a:avLst/>
          </a:prstGeom>
          <a:noFill/>
          <a:ln w="381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43"/>
          <p:cNvSpPr/>
          <p:nvPr/>
        </p:nvSpPr>
        <p:spPr>
          <a:xfrm>
            <a:off x="2070000" y="1317900"/>
            <a:ext cx="720000" cy="720000"/>
          </a:xfrm>
          <a:prstGeom prst="rect">
            <a:avLst/>
          </a:prstGeom>
          <a:noFill/>
          <a:ln w="381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43"/>
          <p:cNvSpPr txBox="1">
            <a:spLocks noGrp="1"/>
          </p:cNvSpPr>
          <p:nvPr>
            <p:ph type="body" idx="1"/>
          </p:nvPr>
        </p:nvSpPr>
        <p:spPr>
          <a:xfrm>
            <a:off x="3531425" y="597900"/>
            <a:ext cx="5342700" cy="39477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ja" b="1">
                <a:solidFill>
                  <a:srgbClr val="0D6EFD"/>
                </a:solidFill>
              </a:rPr>
              <a:t>Once you have decided which lottery you want to play,</a:t>
            </a:r>
            <a:br>
              <a:rPr lang="ja" b="1">
                <a:solidFill>
                  <a:srgbClr val="0D6EFD"/>
                </a:solidFill>
              </a:rPr>
            </a:br>
            <a:r>
              <a:rPr lang="ja" b="1">
                <a:solidFill>
                  <a:srgbClr val="0D6EFD"/>
                </a:solidFill>
              </a:rPr>
              <a:t>stop pressing the left and right arrow keys and click on the lottery you want to play.</a:t>
            </a:r>
            <a:endParaRPr b="1">
              <a:solidFill>
                <a:schemeClr val="dk2"/>
              </a:solidFill>
            </a:endParaRPr>
          </a:p>
        </p:txBody>
      </p:sp>
      <p:pic>
        <p:nvPicPr>
          <p:cNvPr id="307" name="Google Shape;307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2199579">
            <a:off x="1828987" y="2813666"/>
            <a:ext cx="387340" cy="525588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2199579">
            <a:off x="889429" y="1554974"/>
            <a:ext cx="387340" cy="525588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10425" y="1813875"/>
            <a:ext cx="540000" cy="54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1827329">
            <a:off x="1857918" y="3035140"/>
            <a:ext cx="1144162" cy="114417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43"/>
          <p:cNvSpPr txBox="1"/>
          <p:nvPr/>
        </p:nvSpPr>
        <p:spPr>
          <a:xfrm>
            <a:off x="305075" y="4115025"/>
            <a:ext cx="29079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*You can also click with the touchpad.</a:t>
            </a:r>
            <a:endParaRPr sz="1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3" name="Google Shape;313;p43" title="PROGRESS_BAR_ID"/>
          <p:cNvSpPr/>
          <p:nvPr/>
        </p:nvSpPr>
        <p:spPr>
          <a:xfrm>
            <a:off x="0" y="4953000"/>
            <a:ext cx="5418600" cy="1905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F4F88972-99E7-1A06-6B88-D84633F4F61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 smtClean="0"/>
              <a:t>17</a:t>
            </a:fld>
            <a:endParaRPr lang="ja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44"/>
          <p:cNvSpPr/>
          <p:nvPr/>
        </p:nvSpPr>
        <p:spPr>
          <a:xfrm>
            <a:off x="270000" y="597900"/>
            <a:ext cx="2880000" cy="21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9" name="Google Shape;319;p44"/>
          <p:cNvSpPr/>
          <p:nvPr/>
        </p:nvSpPr>
        <p:spPr>
          <a:xfrm>
            <a:off x="630000" y="1317900"/>
            <a:ext cx="720000" cy="720000"/>
          </a:xfrm>
          <a:prstGeom prst="rect">
            <a:avLst/>
          </a:prstGeom>
          <a:solidFill>
            <a:srgbClr val="0D6EFD"/>
          </a:solidFill>
          <a:ln w="38100" cap="flat" cmpd="sng">
            <a:solidFill>
              <a:srgbClr val="0D6EF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44"/>
          <p:cNvSpPr/>
          <p:nvPr/>
        </p:nvSpPr>
        <p:spPr>
          <a:xfrm>
            <a:off x="2070000" y="1317900"/>
            <a:ext cx="720000" cy="720000"/>
          </a:xfrm>
          <a:prstGeom prst="rect">
            <a:avLst/>
          </a:prstGeom>
          <a:noFill/>
          <a:ln w="381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21" name="Google Shape;321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2199579">
            <a:off x="1828987" y="2813666"/>
            <a:ext cx="387340" cy="525588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1827329">
            <a:off x="1857918" y="3035140"/>
            <a:ext cx="1144162" cy="114417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2199579">
            <a:off x="889429" y="1554974"/>
            <a:ext cx="387340" cy="525588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10425" y="1813875"/>
            <a:ext cx="540000" cy="5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44"/>
          <p:cNvSpPr txBox="1">
            <a:spLocks noGrp="1"/>
          </p:cNvSpPr>
          <p:nvPr>
            <p:ph type="body" idx="1"/>
          </p:nvPr>
        </p:nvSpPr>
        <p:spPr>
          <a:xfrm>
            <a:off x="3531425" y="597900"/>
            <a:ext cx="5342700" cy="39477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The selected lottery will turn blue.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ja"/>
              <a:t>You will not see the prize for the lottery you have played.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ja"/>
              <a:t>To see the process of playing a lottery, watch the video on the next page.</a:t>
            </a:r>
            <a:endParaRPr b="1">
              <a:solidFill>
                <a:srgbClr val="0D6EFD"/>
              </a:solidFill>
            </a:endParaRPr>
          </a:p>
        </p:txBody>
      </p:sp>
      <p:sp>
        <p:nvSpPr>
          <p:cNvPr id="327" name="Google Shape;327;p44" title="PROGRESS_BAR_ID"/>
          <p:cNvSpPr/>
          <p:nvPr/>
        </p:nvSpPr>
        <p:spPr>
          <a:xfrm>
            <a:off x="0" y="4953000"/>
            <a:ext cx="5757300" cy="1905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D1921C11-C8F1-2A5E-F9D8-09764E0FEE9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 smtClean="0"/>
              <a:t>18</a:t>
            </a:fld>
            <a:endParaRPr lang="ja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3" name="Google Shape;333;p45" title="choice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45" title="PROGRESS_BAR_ID"/>
          <p:cNvSpPr/>
          <p:nvPr/>
        </p:nvSpPr>
        <p:spPr>
          <a:xfrm>
            <a:off x="0" y="4953000"/>
            <a:ext cx="6096000" cy="1905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BB9827E2-20D9-89CA-7C3E-DD807DB2B4E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 smtClean="0"/>
              <a:t>19</a:t>
            </a:fld>
            <a:endParaRPr lang="ja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46"/>
          <p:cNvSpPr/>
          <p:nvPr/>
        </p:nvSpPr>
        <p:spPr>
          <a:xfrm>
            <a:off x="270000" y="597900"/>
            <a:ext cx="2880000" cy="21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0" name="Google Shape;340;p46"/>
          <p:cNvSpPr/>
          <p:nvPr/>
        </p:nvSpPr>
        <p:spPr>
          <a:xfrm>
            <a:off x="630000" y="1317900"/>
            <a:ext cx="720000" cy="720000"/>
          </a:xfrm>
          <a:prstGeom prst="rect">
            <a:avLst/>
          </a:prstGeom>
          <a:noFill/>
          <a:ln w="381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p46"/>
          <p:cNvSpPr/>
          <p:nvPr/>
        </p:nvSpPr>
        <p:spPr>
          <a:xfrm>
            <a:off x="2070000" y="1317900"/>
            <a:ext cx="720000" cy="720000"/>
          </a:xfrm>
          <a:prstGeom prst="rect">
            <a:avLst/>
          </a:prstGeom>
          <a:noFill/>
          <a:ln w="381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46"/>
          <p:cNvSpPr txBox="1">
            <a:spLocks noGrp="1"/>
          </p:cNvSpPr>
          <p:nvPr>
            <p:ph type="body" idx="1"/>
          </p:nvPr>
        </p:nvSpPr>
        <p:spPr>
          <a:xfrm>
            <a:off x="3531425" y="597900"/>
            <a:ext cx="5342700" cy="39477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b="1">
                <a:solidFill>
                  <a:srgbClr val="0D6EFD"/>
                </a:solidFill>
              </a:rPr>
              <a:t>Please try or play a lottery within 3 seconds.</a:t>
            </a:r>
            <a:endParaRPr>
              <a:solidFill>
                <a:srgbClr val="0D6EFD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ja"/>
              <a:t>If you do not respond within</a:t>
            </a:r>
            <a:br>
              <a:rPr lang="ja"/>
            </a:br>
            <a:r>
              <a:rPr lang="ja"/>
              <a:t>3 seconds, a message will prompt you to respond.</a:t>
            </a:r>
            <a:endParaRPr b="1">
              <a:solidFill>
                <a:srgbClr val="0D6EFD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b="1">
              <a:solidFill>
                <a:schemeClr val="dk2"/>
              </a:solidFill>
            </a:endParaRPr>
          </a:p>
        </p:txBody>
      </p:sp>
      <p:sp>
        <p:nvSpPr>
          <p:cNvPr id="343" name="Google Shape;343;p46"/>
          <p:cNvSpPr txBox="1"/>
          <p:nvPr/>
        </p:nvSpPr>
        <p:spPr>
          <a:xfrm>
            <a:off x="270000" y="1699346"/>
            <a:ext cx="28800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1500">
                <a:solidFill>
                  <a:srgbClr val="FFFF00"/>
                </a:solidFill>
                <a:latin typeface="Roboto"/>
                <a:ea typeface="Roboto"/>
                <a:cs typeface="Roboto"/>
                <a:sym typeface="Roboto"/>
              </a:rPr>
              <a:t>Please try or play a lottery now!</a:t>
            </a:r>
            <a:endParaRPr sz="1500">
              <a:solidFill>
                <a:srgbClr val="FFFF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5" name="Google Shape;345;p46" title="PROGRESS_BAR_ID"/>
          <p:cNvSpPr/>
          <p:nvPr/>
        </p:nvSpPr>
        <p:spPr>
          <a:xfrm>
            <a:off x="0" y="4953000"/>
            <a:ext cx="6434700" cy="1905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E19F61B5-0F56-CD83-3EFD-5FE718BDC3B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 smtClean="0"/>
              <a:t>20</a:t>
            </a:fld>
            <a:endParaRPr lang="ja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47"/>
          <p:cNvSpPr/>
          <p:nvPr/>
        </p:nvSpPr>
        <p:spPr>
          <a:xfrm>
            <a:off x="270000" y="597900"/>
            <a:ext cx="2880000" cy="21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1" name="Google Shape;351;p47"/>
          <p:cNvSpPr/>
          <p:nvPr/>
        </p:nvSpPr>
        <p:spPr>
          <a:xfrm>
            <a:off x="630000" y="1317900"/>
            <a:ext cx="720000" cy="720000"/>
          </a:xfrm>
          <a:prstGeom prst="rect">
            <a:avLst/>
          </a:prstGeom>
          <a:noFill/>
          <a:ln w="381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" name="Google Shape;352;p47"/>
          <p:cNvSpPr/>
          <p:nvPr/>
        </p:nvSpPr>
        <p:spPr>
          <a:xfrm>
            <a:off x="2070000" y="1317900"/>
            <a:ext cx="720000" cy="720000"/>
          </a:xfrm>
          <a:prstGeom prst="rect">
            <a:avLst/>
          </a:prstGeom>
          <a:noFill/>
          <a:ln w="381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p47"/>
          <p:cNvSpPr txBox="1">
            <a:spLocks noGrp="1"/>
          </p:cNvSpPr>
          <p:nvPr>
            <p:ph type="body" idx="1"/>
          </p:nvPr>
        </p:nvSpPr>
        <p:spPr>
          <a:xfrm>
            <a:off x="3531425" y="597900"/>
            <a:ext cx="5342700" cy="39477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b="1">
                <a:solidFill>
                  <a:srgbClr val="FF0000"/>
                </a:solidFill>
              </a:rPr>
              <a:t>If you do not respond within 15 seconds, you will be considered to have dropped out of the task and will not receive any reward.</a:t>
            </a:r>
            <a:endParaRPr b="1"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ja"/>
              <a:t>A timer will appear for the last 5 seconds.</a:t>
            </a:r>
            <a:endParaRPr b="1">
              <a:solidFill>
                <a:srgbClr val="0D6EFD"/>
              </a:solidFill>
            </a:endParaRPr>
          </a:p>
        </p:txBody>
      </p:sp>
      <p:sp>
        <p:nvSpPr>
          <p:cNvPr id="354" name="Google Shape;354;p47"/>
          <p:cNvSpPr txBox="1"/>
          <p:nvPr/>
        </p:nvSpPr>
        <p:spPr>
          <a:xfrm>
            <a:off x="937346" y="3478805"/>
            <a:ext cx="15453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2400">
                <a:solidFill>
                  <a:srgbClr val="DC3545"/>
                </a:solidFill>
                <a:latin typeface="Roboto"/>
                <a:ea typeface="Roboto"/>
                <a:cs typeface="Roboto"/>
                <a:sym typeface="Roboto"/>
              </a:rPr>
              <a:t>Timer</a:t>
            </a:r>
            <a:endParaRPr sz="2400">
              <a:solidFill>
                <a:srgbClr val="DC354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5" name="Google Shape;355;p47"/>
          <p:cNvSpPr txBox="1"/>
          <p:nvPr/>
        </p:nvSpPr>
        <p:spPr>
          <a:xfrm>
            <a:off x="1318500" y="1998650"/>
            <a:ext cx="783000" cy="47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2400" b="1">
                <a:solidFill>
                  <a:srgbClr val="DC3545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endParaRPr sz="2400" b="1">
              <a:solidFill>
                <a:srgbClr val="DC354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56" name="Google Shape;356;p47"/>
          <p:cNvCxnSpPr/>
          <p:nvPr/>
        </p:nvCxnSpPr>
        <p:spPr>
          <a:xfrm rot="10800000" flipH="1">
            <a:off x="1703175" y="2400200"/>
            <a:ext cx="3600" cy="1123200"/>
          </a:xfrm>
          <a:prstGeom prst="straightConnector1">
            <a:avLst/>
          </a:prstGeom>
          <a:noFill/>
          <a:ln w="28575" cap="flat" cmpd="sng">
            <a:solidFill>
              <a:srgbClr val="DC3545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58" name="Google Shape;358;p47" title="PROGRESS_BAR_ID"/>
          <p:cNvSpPr/>
          <p:nvPr/>
        </p:nvSpPr>
        <p:spPr>
          <a:xfrm>
            <a:off x="0" y="4953000"/>
            <a:ext cx="6773400" cy="1905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96AF1C88-C757-5737-A01A-68D462538F1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 smtClean="0"/>
              <a:t>21</a:t>
            </a:fld>
            <a:endParaRPr lang="ja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48"/>
          <p:cNvSpPr txBox="1">
            <a:spLocks noGrp="1"/>
          </p:cNvSpPr>
          <p:nvPr>
            <p:ph type="body" idx="1"/>
          </p:nvPr>
        </p:nvSpPr>
        <p:spPr>
          <a:xfrm>
            <a:off x="3531425" y="597900"/>
            <a:ext cx="5342700" cy="39477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ja"/>
              <a:t>Once you have played a lottery (= made a final choice), the next round begins.</a:t>
            </a:r>
            <a:endParaRPr/>
          </a:p>
        </p:txBody>
      </p:sp>
      <p:sp>
        <p:nvSpPr>
          <p:cNvPr id="364" name="Google Shape;364;p48"/>
          <p:cNvSpPr/>
          <p:nvPr/>
        </p:nvSpPr>
        <p:spPr>
          <a:xfrm>
            <a:off x="270000" y="597900"/>
            <a:ext cx="2880000" cy="21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3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Round 2/40</a:t>
            </a:r>
            <a:endParaRPr sz="3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6" name="Google Shape;366;p48" title="PROGRESS_BAR_ID"/>
          <p:cNvSpPr/>
          <p:nvPr/>
        </p:nvSpPr>
        <p:spPr>
          <a:xfrm>
            <a:off x="0" y="4953000"/>
            <a:ext cx="7112100" cy="1905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160B20D5-9C58-C06F-BAF4-AFE7492670B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 smtClean="0"/>
              <a:t>22</a:t>
            </a:fld>
            <a:endParaRPr lang="ja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49"/>
          <p:cNvSpPr txBox="1">
            <a:spLocks noGrp="1"/>
          </p:cNvSpPr>
          <p:nvPr>
            <p:ph type="ctrTitle"/>
          </p:nvPr>
        </p:nvSpPr>
        <p:spPr>
          <a:xfrm>
            <a:off x="311708" y="1308050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Let’s recap the flow of a round and do a comprehension check.</a:t>
            </a:r>
            <a:endParaRPr/>
          </a:p>
        </p:txBody>
      </p:sp>
      <p:sp>
        <p:nvSpPr>
          <p:cNvPr id="372" name="Google Shape;372;p49" title="PROGRESS_BAR_ID"/>
          <p:cNvSpPr/>
          <p:nvPr/>
        </p:nvSpPr>
        <p:spPr>
          <a:xfrm>
            <a:off x="0" y="4953000"/>
            <a:ext cx="7450800" cy="1905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7" name="Google Shape;377;p50"/>
          <p:cNvGrpSpPr/>
          <p:nvPr/>
        </p:nvGrpSpPr>
        <p:grpSpPr>
          <a:xfrm>
            <a:off x="2293800" y="1010758"/>
            <a:ext cx="1440000" cy="1028160"/>
            <a:chOff x="3756875" y="1790700"/>
            <a:chExt cx="2880000" cy="2160000"/>
          </a:xfrm>
        </p:grpSpPr>
        <p:sp>
          <p:nvSpPr>
            <p:cNvPr id="378" name="Google Shape;378;p50"/>
            <p:cNvSpPr/>
            <p:nvPr/>
          </p:nvSpPr>
          <p:spPr>
            <a:xfrm>
              <a:off x="3756875" y="1790700"/>
              <a:ext cx="2880000" cy="2160000"/>
            </a:xfrm>
            <a:prstGeom prst="rect">
              <a:avLst/>
            </a:prstGeom>
            <a:solidFill>
              <a:srgbClr val="000000"/>
            </a:solidFill>
            <a:ln w="285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79" name="Google Shape;379;p50"/>
            <p:cNvSpPr/>
            <p:nvPr/>
          </p:nvSpPr>
          <p:spPr>
            <a:xfrm>
              <a:off x="4116875" y="2510700"/>
              <a:ext cx="720000" cy="720000"/>
            </a:xfrm>
            <a:prstGeom prst="rect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50"/>
            <p:cNvSpPr/>
            <p:nvPr/>
          </p:nvSpPr>
          <p:spPr>
            <a:xfrm>
              <a:off x="5556875" y="2510700"/>
              <a:ext cx="720000" cy="720000"/>
            </a:xfrm>
            <a:prstGeom prst="rect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381" name="Google Shape;381;p50"/>
          <p:cNvCxnSpPr/>
          <p:nvPr/>
        </p:nvCxnSpPr>
        <p:spPr>
          <a:xfrm>
            <a:off x="2287401" y="2290950"/>
            <a:ext cx="1004400" cy="8886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82" name="Google Shape;382;p50"/>
          <p:cNvSpPr/>
          <p:nvPr/>
        </p:nvSpPr>
        <p:spPr>
          <a:xfrm>
            <a:off x="672050" y="1671192"/>
            <a:ext cx="540000" cy="5400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3" name="Google Shape;383;p50"/>
          <p:cNvSpPr/>
          <p:nvPr/>
        </p:nvSpPr>
        <p:spPr>
          <a:xfrm>
            <a:off x="1361900" y="1671192"/>
            <a:ext cx="540000" cy="5400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4" name="Google Shape;384;p50"/>
          <p:cNvSpPr/>
          <p:nvPr/>
        </p:nvSpPr>
        <p:spPr>
          <a:xfrm rot="5400000">
            <a:off x="1475138" y="1840242"/>
            <a:ext cx="351900" cy="201900"/>
          </a:xfrm>
          <a:prstGeom prst="triangle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" name="Google Shape;385;p50"/>
          <p:cNvSpPr/>
          <p:nvPr/>
        </p:nvSpPr>
        <p:spPr>
          <a:xfrm rot="-5400000" flipH="1">
            <a:off x="747050" y="1840242"/>
            <a:ext cx="351900" cy="201900"/>
          </a:xfrm>
          <a:prstGeom prst="triangle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86" name="Google Shape;386;p50"/>
          <p:cNvGrpSpPr/>
          <p:nvPr/>
        </p:nvGrpSpPr>
        <p:grpSpPr>
          <a:xfrm>
            <a:off x="2446200" y="1163158"/>
            <a:ext cx="1440000" cy="1028160"/>
            <a:chOff x="3756875" y="1790700"/>
            <a:chExt cx="2880000" cy="2160000"/>
          </a:xfrm>
        </p:grpSpPr>
        <p:sp>
          <p:nvSpPr>
            <p:cNvPr id="387" name="Google Shape;387;p50"/>
            <p:cNvSpPr/>
            <p:nvPr/>
          </p:nvSpPr>
          <p:spPr>
            <a:xfrm>
              <a:off x="3756875" y="1790700"/>
              <a:ext cx="2880000" cy="2160000"/>
            </a:xfrm>
            <a:prstGeom prst="rect">
              <a:avLst/>
            </a:prstGeom>
            <a:solidFill>
              <a:srgbClr val="000000"/>
            </a:solidFill>
            <a:ln w="285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88" name="Google Shape;388;p50"/>
            <p:cNvSpPr/>
            <p:nvPr/>
          </p:nvSpPr>
          <p:spPr>
            <a:xfrm>
              <a:off x="4116875" y="2510700"/>
              <a:ext cx="720000" cy="720000"/>
            </a:xfrm>
            <a:prstGeom prst="rect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50"/>
            <p:cNvSpPr/>
            <p:nvPr/>
          </p:nvSpPr>
          <p:spPr>
            <a:xfrm>
              <a:off x="5556875" y="2510700"/>
              <a:ext cx="720000" cy="720000"/>
            </a:xfrm>
            <a:prstGeom prst="rect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0" name="Google Shape;390;p50"/>
          <p:cNvGrpSpPr/>
          <p:nvPr/>
        </p:nvGrpSpPr>
        <p:grpSpPr>
          <a:xfrm>
            <a:off x="2598600" y="1315558"/>
            <a:ext cx="1440000" cy="1028160"/>
            <a:chOff x="3756875" y="1790700"/>
            <a:chExt cx="2880000" cy="2160000"/>
          </a:xfrm>
        </p:grpSpPr>
        <p:sp>
          <p:nvSpPr>
            <p:cNvPr id="391" name="Google Shape;391;p50"/>
            <p:cNvSpPr/>
            <p:nvPr/>
          </p:nvSpPr>
          <p:spPr>
            <a:xfrm>
              <a:off x="3756875" y="1790700"/>
              <a:ext cx="2880000" cy="2160000"/>
            </a:xfrm>
            <a:prstGeom prst="rect">
              <a:avLst/>
            </a:prstGeom>
            <a:solidFill>
              <a:srgbClr val="000000"/>
            </a:solidFill>
            <a:ln w="285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92" name="Google Shape;392;p50"/>
            <p:cNvSpPr/>
            <p:nvPr/>
          </p:nvSpPr>
          <p:spPr>
            <a:xfrm>
              <a:off x="4116875" y="2510700"/>
              <a:ext cx="720000" cy="720000"/>
            </a:xfrm>
            <a:prstGeom prst="rect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50"/>
            <p:cNvSpPr/>
            <p:nvPr/>
          </p:nvSpPr>
          <p:spPr>
            <a:xfrm>
              <a:off x="5556875" y="2510700"/>
              <a:ext cx="720000" cy="720000"/>
            </a:xfrm>
            <a:prstGeom prst="rect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4" name="Google Shape;394;p50"/>
          <p:cNvGrpSpPr/>
          <p:nvPr/>
        </p:nvGrpSpPr>
        <p:grpSpPr>
          <a:xfrm>
            <a:off x="2751000" y="1467958"/>
            <a:ext cx="1440000" cy="1028160"/>
            <a:chOff x="3756875" y="1790700"/>
            <a:chExt cx="2880000" cy="2160000"/>
          </a:xfrm>
        </p:grpSpPr>
        <p:sp>
          <p:nvSpPr>
            <p:cNvPr id="395" name="Google Shape;395;p50"/>
            <p:cNvSpPr/>
            <p:nvPr/>
          </p:nvSpPr>
          <p:spPr>
            <a:xfrm>
              <a:off x="3756875" y="1790700"/>
              <a:ext cx="2880000" cy="2160000"/>
            </a:xfrm>
            <a:prstGeom prst="rect">
              <a:avLst/>
            </a:prstGeom>
            <a:solidFill>
              <a:srgbClr val="000000"/>
            </a:solidFill>
            <a:ln w="285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96" name="Google Shape;396;p50"/>
            <p:cNvSpPr/>
            <p:nvPr/>
          </p:nvSpPr>
          <p:spPr>
            <a:xfrm>
              <a:off x="4116875" y="2510700"/>
              <a:ext cx="720000" cy="720000"/>
            </a:xfrm>
            <a:prstGeom prst="rect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50"/>
            <p:cNvSpPr/>
            <p:nvPr/>
          </p:nvSpPr>
          <p:spPr>
            <a:xfrm>
              <a:off x="5556875" y="2510700"/>
              <a:ext cx="720000" cy="720000"/>
            </a:xfrm>
            <a:prstGeom prst="rect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8" name="Google Shape;398;p50"/>
          <p:cNvGrpSpPr/>
          <p:nvPr/>
        </p:nvGrpSpPr>
        <p:grpSpPr>
          <a:xfrm>
            <a:off x="2903400" y="1620358"/>
            <a:ext cx="1440000" cy="1028160"/>
            <a:chOff x="3756875" y="1790700"/>
            <a:chExt cx="2880000" cy="2160000"/>
          </a:xfrm>
        </p:grpSpPr>
        <p:sp>
          <p:nvSpPr>
            <p:cNvPr id="399" name="Google Shape;399;p50"/>
            <p:cNvSpPr/>
            <p:nvPr/>
          </p:nvSpPr>
          <p:spPr>
            <a:xfrm>
              <a:off x="3756875" y="1790700"/>
              <a:ext cx="2880000" cy="2160000"/>
            </a:xfrm>
            <a:prstGeom prst="rect">
              <a:avLst/>
            </a:prstGeom>
            <a:solidFill>
              <a:srgbClr val="000000"/>
            </a:solidFill>
            <a:ln w="285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00" name="Google Shape;400;p50"/>
            <p:cNvSpPr/>
            <p:nvPr/>
          </p:nvSpPr>
          <p:spPr>
            <a:xfrm>
              <a:off x="4116875" y="2510700"/>
              <a:ext cx="720000" cy="720000"/>
            </a:xfrm>
            <a:prstGeom prst="rect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50"/>
            <p:cNvSpPr/>
            <p:nvPr/>
          </p:nvSpPr>
          <p:spPr>
            <a:xfrm>
              <a:off x="5556875" y="2510700"/>
              <a:ext cx="720000" cy="720000"/>
            </a:xfrm>
            <a:prstGeom prst="rect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02" name="Google Shape;402;p50"/>
          <p:cNvSpPr/>
          <p:nvPr/>
        </p:nvSpPr>
        <p:spPr>
          <a:xfrm>
            <a:off x="3055800" y="1772758"/>
            <a:ext cx="1440000" cy="1028100"/>
          </a:xfrm>
          <a:prstGeom prst="rect">
            <a:avLst/>
          </a:prstGeom>
          <a:solidFill>
            <a:srgbClr val="000000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03" name="Google Shape;403;p50"/>
          <p:cNvCxnSpPr/>
          <p:nvPr/>
        </p:nvCxnSpPr>
        <p:spPr>
          <a:xfrm>
            <a:off x="3808650" y="2837360"/>
            <a:ext cx="345600" cy="341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404" name="Google Shape;404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2700000" flipH="1">
            <a:off x="1524158" y="2211750"/>
            <a:ext cx="720001" cy="720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2700000">
            <a:off x="342925" y="2211750"/>
            <a:ext cx="720001" cy="7200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06" name="Google Shape;406;p50"/>
          <p:cNvCxnSpPr/>
          <p:nvPr/>
        </p:nvCxnSpPr>
        <p:spPr>
          <a:xfrm>
            <a:off x="5544600" y="931850"/>
            <a:ext cx="0" cy="3900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07" name="Google Shape;407;p50"/>
          <p:cNvSpPr/>
          <p:nvPr/>
        </p:nvSpPr>
        <p:spPr>
          <a:xfrm>
            <a:off x="3234600" y="2223240"/>
            <a:ext cx="432000" cy="432000"/>
          </a:xfrm>
          <a:prstGeom prst="rect">
            <a:avLst/>
          </a:prstGeom>
          <a:noFill/>
          <a:ln w="76200" cap="flat" cmpd="sng">
            <a:solidFill>
              <a:srgbClr val="0D6EF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21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X</a:t>
            </a:r>
            <a:endParaRPr sz="21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8" name="Google Shape;408;p50"/>
          <p:cNvSpPr/>
          <p:nvPr/>
        </p:nvSpPr>
        <p:spPr>
          <a:xfrm>
            <a:off x="3885000" y="2223253"/>
            <a:ext cx="432000" cy="432000"/>
          </a:xfrm>
          <a:prstGeom prst="rect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9" name="Google Shape;409;p50"/>
          <p:cNvSpPr txBox="1">
            <a:spLocks noGrp="1"/>
          </p:cNvSpPr>
          <p:nvPr>
            <p:ph type="body" idx="1"/>
          </p:nvPr>
        </p:nvSpPr>
        <p:spPr>
          <a:xfrm>
            <a:off x="5613250" y="890025"/>
            <a:ext cx="3329400" cy="27390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ja" sz="2100"/>
              <a:t>Try out the lotteries until you decide which one you want to play.</a:t>
            </a:r>
            <a:endParaRPr sz="2100"/>
          </a:p>
        </p:txBody>
      </p:sp>
      <p:sp>
        <p:nvSpPr>
          <p:cNvPr id="410" name="Google Shape;410;p50"/>
          <p:cNvSpPr txBox="1">
            <a:spLocks noGrp="1"/>
          </p:cNvSpPr>
          <p:nvPr>
            <p:ph type="title"/>
          </p:nvPr>
        </p:nvSpPr>
        <p:spPr>
          <a:xfrm>
            <a:off x="270000" y="180000"/>
            <a:ext cx="8604000" cy="83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Flow of a round</a:t>
            </a:r>
            <a:endParaRPr/>
          </a:p>
        </p:txBody>
      </p:sp>
      <p:sp>
        <p:nvSpPr>
          <p:cNvPr id="412" name="Google Shape;412;p50" title="PROGRESS_BAR_ID"/>
          <p:cNvSpPr/>
          <p:nvPr/>
        </p:nvSpPr>
        <p:spPr>
          <a:xfrm>
            <a:off x="0" y="4953000"/>
            <a:ext cx="7789200" cy="1905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A138919E-5356-5A4F-B6AD-0C728E66877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 smtClean="0"/>
              <a:t>24</a:t>
            </a:fld>
            <a:endParaRPr lang="ja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7" name="Google Shape;417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2700000">
            <a:off x="342926" y="2211750"/>
            <a:ext cx="719999" cy="719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18" name="Google Shape;418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2700000" flipH="1">
            <a:off x="1526176" y="2211750"/>
            <a:ext cx="719999" cy="7199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19" name="Google Shape;419;p51"/>
          <p:cNvGrpSpPr/>
          <p:nvPr/>
        </p:nvGrpSpPr>
        <p:grpSpPr>
          <a:xfrm>
            <a:off x="2293800" y="1010758"/>
            <a:ext cx="1440000" cy="1028160"/>
            <a:chOff x="3756875" y="1790700"/>
            <a:chExt cx="2880000" cy="2160000"/>
          </a:xfrm>
        </p:grpSpPr>
        <p:sp>
          <p:nvSpPr>
            <p:cNvPr id="420" name="Google Shape;420;p51"/>
            <p:cNvSpPr/>
            <p:nvPr/>
          </p:nvSpPr>
          <p:spPr>
            <a:xfrm>
              <a:off x="3756875" y="1790700"/>
              <a:ext cx="2880000" cy="2160000"/>
            </a:xfrm>
            <a:prstGeom prst="rect">
              <a:avLst/>
            </a:prstGeom>
            <a:solidFill>
              <a:srgbClr val="999999"/>
            </a:solidFill>
            <a:ln w="285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21" name="Google Shape;421;p51"/>
            <p:cNvSpPr/>
            <p:nvPr/>
          </p:nvSpPr>
          <p:spPr>
            <a:xfrm>
              <a:off x="4116875" y="2510700"/>
              <a:ext cx="720000" cy="720000"/>
            </a:xfrm>
            <a:prstGeom prst="rect">
              <a:avLst/>
            </a:prstGeom>
            <a:solidFill>
              <a:srgbClr val="999999"/>
            </a:solidFill>
            <a:ln w="285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51"/>
            <p:cNvSpPr/>
            <p:nvPr/>
          </p:nvSpPr>
          <p:spPr>
            <a:xfrm>
              <a:off x="5556875" y="2510700"/>
              <a:ext cx="720000" cy="720000"/>
            </a:xfrm>
            <a:prstGeom prst="rect">
              <a:avLst/>
            </a:prstGeom>
            <a:solidFill>
              <a:srgbClr val="999999"/>
            </a:solidFill>
            <a:ln w="285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423" name="Google Shape;423;p51"/>
          <p:cNvCxnSpPr/>
          <p:nvPr/>
        </p:nvCxnSpPr>
        <p:spPr>
          <a:xfrm>
            <a:off x="2287401" y="2290950"/>
            <a:ext cx="1508400" cy="13431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24" name="Google Shape;424;p51"/>
          <p:cNvSpPr/>
          <p:nvPr/>
        </p:nvSpPr>
        <p:spPr>
          <a:xfrm>
            <a:off x="672050" y="1671192"/>
            <a:ext cx="540000" cy="5400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5" name="Google Shape;425;p51"/>
          <p:cNvSpPr/>
          <p:nvPr/>
        </p:nvSpPr>
        <p:spPr>
          <a:xfrm rot="-5400000" flipH="1">
            <a:off x="747050" y="1840242"/>
            <a:ext cx="351900" cy="201900"/>
          </a:xfrm>
          <a:prstGeom prst="triangle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" name="Google Shape;426;p51"/>
          <p:cNvSpPr/>
          <p:nvPr/>
        </p:nvSpPr>
        <p:spPr>
          <a:xfrm rot="5400000">
            <a:off x="1475138" y="1840242"/>
            <a:ext cx="351900" cy="201900"/>
          </a:xfrm>
          <a:prstGeom prst="triangle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27" name="Google Shape;427;p51"/>
          <p:cNvGrpSpPr/>
          <p:nvPr/>
        </p:nvGrpSpPr>
        <p:grpSpPr>
          <a:xfrm>
            <a:off x="2446200" y="1163158"/>
            <a:ext cx="1440000" cy="1028160"/>
            <a:chOff x="3756875" y="1790700"/>
            <a:chExt cx="2880000" cy="2160000"/>
          </a:xfrm>
        </p:grpSpPr>
        <p:sp>
          <p:nvSpPr>
            <p:cNvPr id="428" name="Google Shape;428;p51"/>
            <p:cNvSpPr/>
            <p:nvPr/>
          </p:nvSpPr>
          <p:spPr>
            <a:xfrm>
              <a:off x="3756875" y="1790700"/>
              <a:ext cx="2880000" cy="2160000"/>
            </a:xfrm>
            <a:prstGeom prst="rect">
              <a:avLst/>
            </a:prstGeom>
            <a:solidFill>
              <a:srgbClr val="999999"/>
            </a:solidFill>
            <a:ln w="285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29" name="Google Shape;429;p51"/>
            <p:cNvSpPr/>
            <p:nvPr/>
          </p:nvSpPr>
          <p:spPr>
            <a:xfrm>
              <a:off x="4116875" y="2510700"/>
              <a:ext cx="720000" cy="720000"/>
            </a:xfrm>
            <a:prstGeom prst="rect">
              <a:avLst/>
            </a:prstGeom>
            <a:solidFill>
              <a:srgbClr val="999999"/>
            </a:solidFill>
            <a:ln w="285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51"/>
            <p:cNvSpPr/>
            <p:nvPr/>
          </p:nvSpPr>
          <p:spPr>
            <a:xfrm>
              <a:off x="5556875" y="2510700"/>
              <a:ext cx="720000" cy="720000"/>
            </a:xfrm>
            <a:prstGeom prst="rect">
              <a:avLst/>
            </a:prstGeom>
            <a:solidFill>
              <a:srgbClr val="999999"/>
            </a:solidFill>
            <a:ln w="285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31" name="Google Shape;431;p51"/>
          <p:cNvSpPr/>
          <p:nvPr/>
        </p:nvSpPr>
        <p:spPr>
          <a:xfrm>
            <a:off x="1361900" y="1671192"/>
            <a:ext cx="540000" cy="5400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432" name="Google Shape;432;p51"/>
          <p:cNvGrpSpPr/>
          <p:nvPr/>
        </p:nvGrpSpPr>
        <p:grpSpPr>
          <a:xfrm>
            <a:off x="2598600" y="1315558"/>
            <a:ext cx="1440000" cy="1028160"/>
            <a:chOff x="3756875" y="1790700"/>
            <a:chExt cx="2880000" cy="2160000"/>
          </a:xfrm>
        </p:grpSpPr>
        <p:sp>
          <p:nvSpPr>
            <p:cNvPr id="433" name="Google Shape;433;p51"/>
            <p:cNvSpPr/>
            <p:nvPr/>
          </p:nvSpPr>
          <p:spPr>
            <a:xfrm>
              <a:off x="3756875" y="1790700"/>
              <a:ext cx="2880000" cy="2160000"/>
            </a:xfrm>
            <a:prstGeom prst="rect">
              <a:avLst/>
            </a:prstGeom>
            <a:solidFill>
              <a:srgbClr val="999999"/>
            </a:solidFill>
            <a:ln w="285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34" name="Google Shape;434;p51"/>
            <p:cNvSpPr/>
            <p:nvPr/>
          </p:nvSpPr>
          <p:spPr>
            <a:xfrm>
              <a:off x="4116875" y="2510700"/>
              <a:ext cx="720000" cy="720000"/>
            </a:xfrm>
            <a:prstGeom prst="rect">
              <a:avLst/>
            </a:prstGeom>
            <a:solidFill>
              <a:srgbClr val="999999"/>
            </a:solidFill>
            <a:ln w="285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51"/>
            <p:cNvSpPr/>
            <p:nvPr/>
          </p:nvSpPr>
          <p:spPr>
            <a:xfrm>
              <a:off x="5556875" y="2510700"/>
              <a:ext cx="720000" cy="720000"/>
            </a:xfrm>
            <a:prstGeom prst="rect">
              <a:avLst/>
            </a:prstGeom>
            <a:solidFill>
              <a:srgbClr val="999999"/>
            </a:solidFill>
            <a:ln w="285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6" name="Google Shape;436;p51"/>
          <p:cNvGrpSpPr/>
          <p:nvPr/>
        </p:nvGrpSpPr>
        <p:grpSpPr>
          <a:xfrm>
            <a:off x="2751000" y="1467958"/>
            <a:ext cx="1440000" cy="1028160"/>
            <a:chOff x="3756875" y="1790700"/>
            <a:chExt cx="2880000" cy="2160000"/>
          </a:xfrm>
        </p:grpSpPr>
        <p:sp>
          <p:nvSpPr>
            <p:cNvPr id="437" name="Google Shape;437;p51"/>
            <p:cNvSpPr/>
            <p:nvPr/>
          </p:nvSpPr>
          <p:spPr>
            <a:xfrm>
              <a:off x="3756875" y="1790700"/>
              <a:ext cx="2880000" cy="2160000"/>
            </a:xfrm>
            <a:prstGeom prst="rect">
              <a:avLst/>
            </a:prstGeom>
            <a:solidFill>
              <a:srgbClr val="999999"/>
            </a:solidFill>
            <a:ln w="285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38" name="Google Shape;438;p51"/>
            <p:cNvSpPr/>
            <p:nvPr/>
          </p:nvSpPr>
          <p:spPr>
            <a:xfrm>
              <a:off x="4116875" y="2510700"/>
              <a:ext cx="720000" cy="720000"/>
            </a:xfrm>
            <a:prstGeom prst="rect">
              <a:avLst/>
            </a:prstGeom>
            <a:solidFill>
              <a:srgbClr val="999999"/>
            </a:solidFill>
            <a:ln w="285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51"/>
            <p:cNvSpPr/>
            <p:nvPr/>
          </p:nvSpPr>
          <p:spPr>
            <a:xfrm>
              <a:off x="5556875" y="2510700"/>
              <a:ext cx="720000" cy="720000"/>
            </a:xfrm>
            <a:prstGeom prst="rect">
              <a:avLst/>
            </a:prstGeom>
            <a:solidFill>
              <a:srgbClr val="999999"/>
            </a:solidFill>
            <a:ln w="285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40" name="Google Shape;440;p51"/>
          <p:cNvGrpSpPr/>
          <p:nvPr/>
        </p:nvGrpSpPr>
        <p:grpSpPr>
          <a:xfrm>
            <a:off x="2903400" y="1620358"/>
            <a:ext cx="1440000" cy="1028160"/>
            <a:chOff x="3756875" y="1790700"/>
            <a:chExt cx="2880000" cy="2160000"/>
          </a:xfrm>
        </p:grpSpPr>
        <p:sp>
          <p:nvSpPr>
            <p:cNvPr id="441" name="Google Shape;441;p51"/>
            <p:cNvSpPr/>
            <p:nvPr/>
          </p:nvSpPr>
          <p:spPr>
            <a:xfrm>
              <a:off x="3756875" y="1790700"/>
              <a:ext cx="2880000" cy="2160000"/>
            </a:xfrm>
            <a:prstGeom prst="rect">
              <a:avLst/>
            </a:prstGeom>
            <a:solidFill>
              <a:srgbClr val="999999"/>
            </a:solidFill>
            <a:ln w="285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42" name="Google Shape;442;p51"/>
            <p:cNvSpPr/>
            <p:nvPr/>
          </p:nvSpPr>
          <p:spPr>
            <a:xfrm>
              <a:off x="4116875" y="2510700"/>
              <a:ext cx="720000" cy="720000"/>
            </a:xfrm>
            <a:prstGeom prst="rect">
              <a:avLst/>
            </a:prstGeom>
            <a:solidFill>
              <a:srgbClr val="999999"/>
            </a:solidFill>
            <a:ln w="285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51"/>
            <p:cNvSpPr/>
            <p:nvPr/>
          </p:nvSpPr>
          <p:spPr>
            <a:xfrm>
              <a:off x="5556875" y="2510700"/>
              <a:ext cx="720000" cy="720000"/>
            </a:xfrm>
            <a:prstGeom prst="rect">
              <a:avLst/>
            </a:prstGeom>
            <a:solidFill>
              <a:srgbClr val="999999"/>
            </a:solidFill>
            <a:ln w="285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44" name="Google Shape;444;p51"/>
          <p:cNvSpPr/>
          <p:nvPr/>
        </p:nvSpPr>
        <p:spPr>
          <a:xfrm>
            <a:off x="3055800" y="1772758"/>
            <a:ext cx="1440000" cy="1028100"/>
          </a:xfrm>
          <a:prstGeom prst="rect">
            <a:avLst/>
          </a:prstGeom>
          <a:solidFill>
            <a:srgbClr val="999999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5" name="Google Shape;445;p51"/>
          <p:cNvSpPr/>
          <p:nvPr/>
        </p:nvSpPr>
        <p:spPr>
          <a:xfrm>
            <a:off x="3234600" y="2223240"/>
            <a:ext cx="432000" cy="432000"/>
          </a:xfrm>
          <a:prstGeom prst="rect">
            <a:avLst/>
          </a:prstGeom>
          <a:noFill/>
          <a:ln w="76200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21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X</a:t>
            </a:r>
            <a:endParaRPr sz="21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6" name="Google Shape;446;p51"/>
          <p:cNvSpPr/>
          <p:nvPr/>
        </p:nvSpPr>
        <p:spPr>
          <a:xfrm>
            <a:off x="3885000" y="2223253"/>
            <a:ext cx="432000" cy="432000"/>
          </a:xfrm>
          <a:prstGeom prst="rect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47" name="Google Shape;447;p51"/>
          <p:cNvGrpSpPr/>
          <p:nvPr/>
        </p:nvGrpSpPr>
        <p:grpSpPr>
          <a:xfrm>
            <a:off x="3861275" y="3688716"/>
            <a:ext cx="1440000" cy="1028160"/>
            <a:chOff x="3756875" y="1790700"/>
            <a:chExt cx="2880000" cy="2160000"/>
          </a:xfrm>
        </p:grpSpPr>
        <p:sp>
          <p:nvSpPr>
            <p:cNvPr id="448" name="Google Shape;448;p51"/>
            <p:cNvSpPr/>
            <p:nvPr/>
          </p:nvSpPr>
          <p:spPr>
            <a:xfrm>
              <a:off x="3756875" y="1790700"/>
              <a:ext cx="2880000" cy="2160000"/>
            </a:xfrm>
            <a:prstGeom prst="rect">
              <a:avLst/>
            </a:prstGeom>
            <a:solidFill>
              <a:srgbClr val="000000"/>
            </a:solidFill>
            <a:ln w="285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49" name="Google Shape;449;p51"/>
            <p:cNvSpPr/>
            <p:nvPr/>
          </p:nvSpPr>
          <p:spPr>
            <a:xfrm>
              <a:off x="4116875" y="2830868"/>
              <a:ext cx="720000" cy="720000"/>
            </a:xfrm>
            <a:prstGeom prst="rect">
              <a:avLst/>
            </a:prstGeom>
            <a:solidFill>
              <a:srgbClr val="0D6EFD"/>
            </a:solidFill>
            <a:ln w="28575" cap="flat" cmpd="sng">
              <a:solidFill>
                <a:srgbClr val="0D6EF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51"/>
            <p:cNvSpPr/>
            <p:nvPr/>
          </p:nvSpPr>
          <p:spPr>
            <a:xfrm>
              <a:off x="5556875" y="2830868"/>
              <a:ext cx="720000" cy="720000"/>
            </a:xfrm>
            <a:prstGeom prst="rect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451" name="Google Shape;451;p51"/>
          <p:cNvCxnSpPr/>
          <p:nvPr/>
        </p:nvCxnSpPr>
        <p:spPr>
          <a:xfrm>
            <a:off x="3808650" y="2837360"/>
            <a:ext cx="777600" cy="774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452" name="Google Shape;452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2199579">
            <a:off x="2649920" y="3600574"/>
            <a:ext cx="387340" cy="525588"/>
          </a:xfrm>
          <a:prstGeom prst="rect">
            <a:avLst/>
          </a:prstGeom>
          <a:noFill/>
          <a:ln>
            <a:noFill/>
          </a:ln>
        </p:spPr>
      </p:pic>
      <p:pic>
        <p:nvPicPr>
          <p:cNvPr id="453" name="Google Shape;453;p5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1827329">
            <a:off x="2735091" y="3828813"/>
            <a:ext cx="900000" cy="90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4" name="Google Shape;454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2199588">
            <a:off x="4169569" y="4202004"/>
            <a:ext cx="215999" cy="293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5" name="Google Shape;455;p5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37760" y="4349579"/>
            <a:ext cx="324000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p51"/>
          <p:cNvSpPr/>
          <p:nvPr/>
        </p:nvSpPr>
        <p:spPr>
          <a:xfrm rot="5400000">
            <a:off x="1475138" y="1840242"/>
            <a:ext cx="351900" cy="201900"/>
          </a:xfrm>
          <a:prstGeom prst="triangle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57" name="Google Shape;457;p51"/>
          <p:cNvCxnSpPr/>
          <p:nvPr/>
        </p:nvCxnSpPr>
        <p:spPr>
          <a:xfrm>
            <a:off x="5544600" y="931850"/>
            <a:ext cx="0" cy="3900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58" name="Google Shape;458;p51"/>
          <p:cNvSpPr txBox="1">
            <a:spLocks noGrp="1"/>
          </p:cNvSpPr>
          <p:nvPr>
            <p:ph type="title" idx="4294967295"/>
          </p:nvPr>
        </p:nvSpPr>
        <p:spPr>
          <a:xfrm>
            <a:off x="270000" y="180000"/>
            <a:ext cx="8604000" cy="83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b="1"/>
              <a:t>Flow of a round</a:t>
            </a:r>
            <a:endParaRPr b="1"/>
          </a:p>
        </p:txBody>
      </p:sp>
      <p:sp>
        <p:nvSpPr>
          <p:cNvPr id="459" name="Google Shape;459;p51"/>
          <p:cNvSpPr txBox="1"/>
          <p:nvPr/>
        </p:nvSpPr>
        <p:spPr>
          <a:xfrm>
            <a:off x="5613250" y="890025"/>
            <a:ext cx="3329400" cy="27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ja" sz="2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Try out the lotteries until you decide which one you want to play.</a:t>
            </a:r>
            <a:endParaRPr sz="2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0" name="Google Shape;460;p51"/>
          <p:cNvSpPr txBox="1"/>
          <p:nvPr/>
        </p:nvSpPr>
        <p:spPr>
          <a:xfrm>
            <a:off x="5613250" y="3688725"/>
            <a:ext cx="3329400" cy="102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ja" sz="2100">
                <a:solidFill>
                  <a:srgbClr val="404157"/>
                </a:solidFill>
                <a:latin typeface="Roboto"/>
                <a:ea typeface="Roboto"/>
                <a:cs typeface="Roboto"/>
                <a:sym typeface="Roboto"/>
              </a:rPr>
              <a:t>When you have tried out the lotteries enough, click on the lottery to play.</a:t>
            </a:r>
            <a:endParaRPr sz="2100">
              <a:solidFill>
                <a:srgbClr val="40415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2" name="Google Shape;462;p51" title="PROGRESS_BAR_ID"/>
          <p:cNvSpPr/>
          <p:nvPr/>
        </p:nvSpPr>
        <p:spPr>
          <a:xfrm>
            <a:off x="0" y="4953000"/>
            <a:ext cx="8127900" cy="1905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5A7F24AC-3A60-B23B-AAAC-62D08E0721E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 smtClean="0"/>
              <a:t>25</a:t>
            </a:fld>
            <a:endParaRPr lang="ja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52"/>
          <p:cNvSpPr txBox="1">
            <a:spLocks noGrp="1"/>
          </p:cNvSpPr>
          <p:nvPr>
            <p:ph type="body" idx="1"/>
          </p:nvPr>
        </p:nvSpPr>
        <p:spPr>
          <a:xfrm>
            <a:off x="270000" y="1015850"/>
            <a:ext cx="8604000" cy="39477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At the end of the study, 5 of your 40 choices will be drawn, and these lotteries will be played out.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ja"/>
              <a:t>1 point is converted into 3 pence. This will be added to the base reward.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ja" b="1">
                <a:solidFill>
                  <a:srgbClr val="0D6EFD"/>
                </a:solidFill>
              </a:rPr>
              <a:t>You never know which rounds will be drawn.</a:t>
            </a:r>
            <a:br>
              <a:rPr lang="ja" b="1">
                <a:solidFill>
                  <a:srgbClr val="0D6EFD"/>
                </a:solidFill>
              </a:rPr>
            </a:br>
            <a:r>
              <a:rPr lang="ja" b="1">
                <a:solidFill>
                  <a:srgbClr val="0D6EFD"/>
                </a:solidFill>
              </a:rPr>
              <a:t>So, take all your decisions seriously.</a:t>
            </a:r>
            <a:endParaRPr>
              <a:solidFill>
                <a:srgbClr val="0D6EFD"/>
              </a:solidFill>
            </a:endParaRPr>
          </a:p>
        </p:txBody>
      </p:sp>
      <p:sp>
        <p:nvSpPr>
          <p:cNvPr id="468" name="Google Shape;468;p52"/>
          <p:cNvSpPr txBox="1">
            <a:spLocks noGrp="1"/>
          </p:cNvSpPr>
          <p:nvPr>
            <p:ph type="title"/>
          </p:nvPr>
        </p:nvSpPr>
        <p:spPr>
          <a:xfrm>
            <a:off x="270000" y="180000"/>
            <a:ext cx="8604000" cy="83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Bonus</a:t>
            </a:r>
            <a:endParaRPr/>
          </a:p>
        </p:txBody>
      </p:sp>
      <p:sp>
        <p:nvSpPr>
          <p:cNvPr id="470" name="Google Shape;470;p52" title="PROGRESS_BAR_ID"/>
          <p:cNvSpPr/>
          <p:nvPr/>
        </p:nvSpPr>
        <p:spPr>
          <a:xfrm>
            <a:off x="0" y="4953000"/>
            <a:ext cx="8466600" cy="1905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DDEAD5A4-57F0-9F5B-3E42-127DC897E60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 smtClean="0"/>
              <a:t>26</a:t>
            </a:fld>
            <a:endParaRPr lang="ja" alt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53"/>
          <p:cNvSpPr txBox="1">
            <a:spLocks noGrp="1"/>
          </p:cNvSpPr>
          <p:nvPr>
            <p:ph type="title"/>
          </p:nvPr>
        </p:nvSpPr>
        <p:spPr>
          <a:xfrm>
            <a:off x="270000" y="180000"/>
            <a:ext cx="8604000" cy="83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If you drop out of the task…</a:t>
            </a:r>
            <a:endParaRPr/>
          </a:p>
        </p:txBody>
      </p:sp>
      <p:sp>
        <p:nvSpPr>
          <p:cNvPr id="476" name="Google Shape;476;p53"/>
          <p:cNvSpPr txBox="1">
            <a:spLocks noGrp="1"/>
          </p:cNvSpPr>
          <p:nvPr>
            <p:ph type="body" idx="1"/>
          </p:nvPr>
        </p:nvSpPr>
        <p:spPr>
          <a:xfrm>
            <a:off x="270000" y="1015850"/>
            <a:ext cx="8604000" cy="39477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b="1">
                <a:solidFill>
                  <a:srgbClr val="DC3545"/>
                </a:solidFill>
              </a:rPr>
              <a:t>You will not receive any reward.</a:t>
            </a:r>
            <a:endParaRPr b="1">
              <a:solidFill>
                <a:srgbClr val="DC3545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ja" b="1">
                <a:solidFill>
                  <a:srgbClr val="DC3545"/>
                </a:solidFill>
              </a:rPr>
              <a:t>Reloading or refreshing the tab/window is also considered a drop-out.</a:t>
            </a:r>
            <a:endParaRPr b="1">
              <a:solidFill>
                <a:srgbClr val="DC3545"/>
              </a:solidFill>
            </a:endParaRPr>
          </a:p>
        </p:txBody>
      </p:sp>
      <p:sp>
        <p:nvSpPr>
          <p:cNvPr id="478" name="Google Shape;478;p53" title="PROGRESS_BAR_ID"/>
          <p:cNvSpPr/>
          <p:nvPr/>
        </p:nvSpPr>
        <p:spPr>
          <a:xfrm>
            <a:off x="0" y="4953000"/>
            <a:ext cx="8805300" cy="1905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F0EDFA15-1A57-B604-D091-0430F4DD690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 smtClean="0"/>
              <a:t>27</a:t>
            </a:fld>
            <a:endParaRPr lang="ja" alt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54"/>
          <p:cNvSpPr txBox="1">
            <a:spLocks noGrp="1"/>
          </p:cNvSpPr>
          <p:nvPr>
            <p:ph type="title"/>
          </p:nvPr>
        </p:nvSpPr>
        <p:spPr>
          <a:xfrm>
            <a:off x="270000" y="180000"/>
            <a:ext cx="8604000" cy="83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Was everything clear?</a:t>
            </a:r>
            <a:endParaRPr/>
          </a:p>
        </p:txBody>
      </p:sp>
      <p:sp>
        <p:nvSpPr>
          <p:cNvPr id="484" name="Google Shape;484;p54"/>
          <p:cNvSpPr txBox="1">
            <a:spLocks noGrp="1"/>
          </p:cNvSpPr>
          <p:nvPr>
            <p:ph type="body" idx="1"/>
          </p:nvPr>
        </p:nvSpPr>
        <p:spPr>
          <a:xfrm>
            <a:off x="270000" y="1015850"/>
            <a:ext cx="8604000" cy="39477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b="1">
                <a:solidFill>
                  <a:srgbClr val="0D6EFD"/>
                </a:solidFill>
              </a:rPr>
              <a:t>Answer the comprehension questions below.</a:t>
            </a:r>
            <a:endParaRPr b="1">
              <a:solidFill>
                <a:srgbClr val="0D6EFD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ja" b="1">
                <a:solidFill>
                  <a:srgbClr val="DC3545"/>
                </a:solidFill>
              </a:rPr>
              <a:t>You can try the questions twice. If you fail twice, you will not be allowed to start the task.</a:t>
            </a:r>
            <a:endParaRPr b="1">
              <a:solidFill>
                <a:srgbClr val="DC3545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ja"/>
              <a:t>You can read the slides again if you are not sure.</a:t>
            </a:r>
            <a:endParaRPr b="1">
              <a:solidFill>
                <a:srgbClr val="DC3545"/>
              </a:solidFill>
            </a:endParaRPr>
          </a:p>
        </p:txBody>
      </p:sp>
      <p:sp>
        <p:nvSpPr>
          <p:cNvPr id="485" name="Google Shape;485;p54"/>
          <p:cNvSpPr txBox="1"/>
          <p:nvPr/>
        </p:nvSpPr>
        <p:spPr>
          <a:xfrm>
            <a:off x="2741300" y="3862850"/>
            <a:ext cx="13737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36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Scroll 　　</a:t>
            </a:r>
            <a:endParaRPr sz="36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6" name="Google Shape;486;p54"/>
          <p:cNvSpPr/>
          <p:nvPr/>
        </p:nvSpPr>
        <p:spPr>
          <a:xfrm>
            <a:off x="4152950" y="3966200"/>
            <a:ext cx="832800" cy="5322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7" name="Google Shape;487;p54"/>
          <p:cNvSpPr txBox="1"/>
          <p:nvPr/>
        </p:nvSpPr>
        <p:spPr>
          <a:xfrm>
            <a:off x="5023700" y="3862850"/>
            <a:ext cx="13737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36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down</a:t>
            </a:r>
            <a:endParaRPr sz="36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9" name="Google Shape;489;p54" title="PROGRESS_BAR_ID"/>
          <p:cNvSpPr/>
          <p:nvPr/>
        </p:nvSpPr>
        <p:spPr>
          <a:xfrm>
            <a:off x="0" y="4953000"/>
            <a:ext cx="9144000" cy="1905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332AC3C9-C669-2F35-D527-4D06F6AD707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 smtClean="0"/>
              <a:t>28</a:t>
            </a:fld>
            <a:endParaRPr lang="ja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ytheme">
  <a:themeElements>
    <a:clrScheme name="Simple Light">
      <a:dk1>
        <a:srgbClr val="404157"/>
      </a:dk1>
      <a:lt1>
        <a:srgbClr val="F9F3DF"/>
      </a:lt1>
      <a:dk2>
        <a:srgbClr val="A6A6A6"/>
      </a:dk2>
      <a:lt2>
        <a:srgbClr val="FFFFFF"/>
      </a:lt2>
      <a:accent1>
        <a:srgbClr val="20AA86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ytheme">
  <a:themeElements>
    <a:clrScheme name="Simple Light">
      <a:dk1>
        <a:srgbClr val="404157"/>
      </a:dk1>
      <a:lt1>
        <a:srgbClr val="F9F3DF"/>
      </a:lt1>
      <a:dk2>
        <a:srgbClr val="A6A6A6"/>
      </a:dk2>
      <a:lt2>
        <a:srgbClr val="FFFFFF"/>
      </a:lt2>
      <a:accent1>
        <a:srgbClr val="20AA86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831</Words>
  <Application>Microsoft Macintosh PowerPoint</Application>
  <PresentationFormat>画面に合わせる (16:9)</PresentationFormat>
  <Paragraphs>106</Paragraphs>
  <Slides>28</Slides>
  <Notes>28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28</vt:i4>
      </vt:variant>
    </vt:vector>
  </HeadingPairs>
  <TitlesOfParts>
    <vt:vector size="32" baseType="lpstr">
      <vt:lpstr>Arial</vt:lpstr>
      <vt:lpstr>Roboto</vt:lpstr>
      <vt:lpstr>mytheme</vt:lpstr>
      <vt:lpstr>mytheme</vt:lpstr>
      <vt:lpstr>Instructions for today’s task</vt:lpstr>
      <vt:lpstr>Task overview</vt:lpstr>
      <vt:lpstr>PowerPoint プレゼンテーション</vt:lpstr>
      <vt:lpstr>PowerPoint プレゼンテーション</vt:lpstr>
      <vt:lpstr>PowerPoint プレゼンテーション</vt:lpstr>
      <vt:lpstr>How to try out and play a lottery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Let’s recap the flow of a round and do a comprehension check.</vt:lpstr>
      <vt:lpstr>Flow of a round</vt:lpstr>
      <vt:lpstr>Flow of a round</vt:lpstr>
      <vt:lpstr>Bonus</vt:lpstr>
      <vt:lpstr>If you drop out of the task…</vt:lpstr>
      <vt:lpstr>Was everything clear?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Author</cp:lastModifiedBy>
  <cp:revision>3</cp:revision>
  <cp:lastPrinted>2026-03-03T20:14:00Z</cp:lastPrinted>
  <dcterms:modified xsi:type="dcterms:W3CDTF">2026-03-03T20:14:55Z</dcterms:modified>
</cp:coreProperties>
</file>