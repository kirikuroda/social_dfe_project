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695"/>
  </p:normalViewPr>
  <p:slideViewPr>
    <p:cSldViewPr snapToGrid="0">
      <p:cViewPr varScale="1">
        <p:scale>
          <a:sx n="141" d="100"/>
          <a:sy n="141" d="100"/>
        </p:scale>
        <p:origin x="728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b94f1f3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b94f1f3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b94f1f37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2b94f1f37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baa3620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baa3620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baa3620f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baa3620f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a4360a8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a4360a8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33cb15b0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33cb15b0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3ccbbe0a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3ccbbe0a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3ccbbe0a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3ccbbe0a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4360a82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4360a82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4360a82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a4360a82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a4360a82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a4360a82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a4360a82d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a4360a82d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a4360a82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a4360a82d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a4360a82d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a4360a82d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9f63a58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9f63a58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a4360a82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2a4360a82d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a4360a82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2a4360a82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9f63a588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9f63a588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a4360a82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a4360a82d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a4360a82d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a4360a82d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7b21edbf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27b21edbf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4cedc64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24cedc64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a4360a82d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2a4360a82d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d707b2c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d707b2c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a4360a82d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2a4360a82d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a4360a82d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2a4360a82d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2a4360a82d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2a4360a82d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a4360a82d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2a4360a82d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c568e06f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c568e06f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a4360a82d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2a4360a82d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2a4360a82d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2a4360a82d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2a4360a82d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2a4360a82d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27b21edbf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27b21edbf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a4360a82d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2a4360a82d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24cedc64f6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24cedc64f6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48b494731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248b494731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2a4360a82d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2a4360a82d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24cedc64f6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24cedc64f6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24cedc64f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24cedc64f6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248b49473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248b49473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9F3D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本文 1">
  <p:cSld name="TITLE_AND_BODY_1">
    <p:bg>
      <p:bgPr>
        <a:solidFill>
          <a:srgbClr val="F9F3D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9F3D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70000" y="893650"/>
            <a:ext cx="86040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70">
          <p15:clr>
            <a:srgbClr val="EA4335"/>
          </p15:clr>
        </p15:guide>
        <p15:guide id="4" pos="5590">
          <p15:clr>
            <a:srgbClr val="EA4335"/>
          </p15:clr>
        </p15:guide>
        <p15:guide id="5" orient="horz" pos="113">
          <p15:clr>
            <a:srgbClr val="EA4335"/>
          </p15:clr>
        </p15:guide>
        <p15:guide id="6" orient="horz" pos="3127">
          <p15:clr>
            <a:srgbClr val="EA4335"/>
          </p15:clr>
        </p15:guide>
        <p15:guide id="7" pos="1984">
          <p15:clr>
            <a:srgbClr val="E46962"/>
          </p15:clr>
        </p15:guide>
        <p15:guide id="8" pos="378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qyclvEqqI22bXoGsOYp_YCDJjCq0j6GE/vie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rKScsCZVxFgt2nE0I1MuDPnb2mNeFCq7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Instructions for today’s task</a:t>
            </a: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Click “Next &gt;” to read the slides →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Task overview</a:t>
            </a: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 title="PROGRESS_BAR_ID"/>
          <p:cNvSpPr/>
          <p:nvPr/>
        </p:nvSpPr>
        <p:spPr>
          <a:xfrm>
            <a:off x="0" y="4953000"/>
            <a:ext cx="228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The task has 40 rounds. </a:t>
            </a:r>
            <a:r>
              <a:rPr lang="ja" b="1">
                <a:solidFill>
                  <a:srgbClr val="0D6EFD"/>
                </a:solidFill>
              </a:rPr>
              <a:t>In each round, you have to choose between two lotteries with different prizes and odds.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  <p:sp>
        <p:nvSpPr>
          <p:cNvPr id="72" name="Google Shape;72;p16" title="PROGRESS_BAR_ID"/>
          <p:cNvSpPr/>
          <p:nvPr/>
        </p:nvSpPr>
        <p:spPr>
          <a:xfrm>
            <a:off x="0" y="4953000"/>
            <a:ext cx="457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The task has 40 rounds. </a:t>
            </a:r>
            <a:r>
              <a:rPr lang="ja" b="1">
                <a:solidFill>
                  <a:schemeClr val="dk2"/>
                </a:solidFill>
              </a:rPr>
              <a:t>In each round, you have to choose between two lotteries with different prizes and odds.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We will not tell you the exact odds of each lottery. </a:t>
            </a:r>
            <a:r>
              <a:rPr lang="ja" b="1">
                <a:solidFill>
                  <a:srgbClr val="0D6EFD"/>
                </a:solidFill>
              </a:rPr>
              <a:t>Instead, you can try out the lotteries before deciding which one you want to play.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0D6EFD"/>
              </a:solidFill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4</a:t>
            </a:fld>
            <a:endParaRPr/>
          </a:p>
        </p:txBody>
      </p:sp>
      <p:sp>
        <p:nvSpPr>
          <p:cNvPr id="79" name="Google Shape;79;p17" title="PROGRESS_BAR_ID"/>
          <p:cNvSpPr/>
          <p:nvPr/>
        </p:nvSpPr>
        <p:spPr>
          <a:xfrm>
            <a:off x="0" y="4953000"/>
            <a:ext cx="685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The task has 40 rounds. </a:t>
            </a:r>
            <a:r>
              <a:rPr lang="ja" b="1">
                <a:solidFill>
                  <a:schemeClr val="dk2"/>
                </a:solidFill>
              </a:rPr>
              <a:t>In each round, you have to choose between two lotteries with different prizes and odds.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We will not tell you the exact odds of each lottery. </a:t>
            </a:r>
            <a:r>
              <a:rPr lang="ja" b="1">
                <a:solidFill>
                  <a:schemeClr val="dk2"/>
                </a:solidFill>
              </a:rPr>
              <a:t>Instead, you can try out the lotteries before deciding which one you want to play.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After enough tries, play the lottery you prefer.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The prize will be your bonus.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5</a:t>
            </a:fld>
            <a:endParaRPr/>
          </a:p>
        </p:txBody>
      </p:sp>
      <p:sp>
        <p:nvSpPr>
          <p:cNvPr id="86" name="Google Shape;86;p18" title="PROGRESS_BAR_ID"/>
          <p:cNvSpPr/>
          <p:nvPr/>
        </p:nvSpPr>
        <p:spPr>
          <a:xfrm>
            <a:off x="0" y="4953000"/>
            <a:ext cx="914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How to try out and play a lottery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 title="PROGRESS_BAR_ID"/>
          <p:cNvSpPr/>
          <p:nvPr/>
        </p:nvSpPr>
        <p:spPr>
          <a:xfrm>
            <a:off x="0" y="4953000"/>
            <a:ext cx="1143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First, the number of the current round is displayed.</a:t>
            </a:r>
            <a:endParaRPr/>
          </a:p>
        </p:txBody>
      </p:sp>
      <p:sp>
        <p:nvSpPr>
          <p:cNvPr id="99" name="Google Shape;99;p20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Round 1/40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7</a:t>
            </a:fld>
            <a:endParaRPr/>
          </a:p>
        </p:txBody>
      </p:sp>
      <p:sp>
        <p:nvSpPr>
          <p:cNvPr id="101" name="Google Shape;101;p20" title="PROGRESS_BAR_ID"/>
          <p:cNvSpPr/>
          <p:nvPr/>
        </p:nvSpPr>
        <p:spPr>
          <a:xfrm>
            <a:off x="0" y="4953000"/>
            <a:ext cx="1371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Next, two squares appear.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Each square represents a lottery.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8</a:t>
            </a:fld>
            <a:endParaRPr/>
          </a:p>
        </p:txBody>
      </p:sp>
      <p:sp>
        <p:nvSpPr>
          <p:cNvPr id="111" name="Google Shape;111;p21" title="PROGRESS_BAR_ID"/>
          <p:cNvSpPr/>
          <p:nvPr/>
        </p:nvSpPr>
        <p:spPr>
          <a:xfrm>
            <a:off x="0" y="4953000"/>
            <a:ext cx="1600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"/>
              <a:t>To try out the left lottery,</a:t>
            </a:r>
            <a:br>
              <a:rPr lang="ja"/>
            </a:br>
            <a:r>
              <a:rPr lang="ja"/>
              <a:t>press the </a:t>
            </a:r>
            <a:r>
              <a:rPr lang="ja" b="1">
                <a:solidFill>
                  <a:srgbClr val="0D6EFD"/>
                </a:solidFill>
              </a:rPr>
              <a:t>left arrow</a:t>
            </a:r>
            <a:r>
              <a:rPr lang="ja"/>
              <a:t> key.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try out the right lottery,</a:t>
            </a:r>
            <a:br>
              <a:rPr lang="ja"/>
            </a:br>
            <a:r>
              <a:rPr lang="ja"/>
              <a:t>press the </a:t>
            </a:r>
            <a:r>
              <a:rPr lang="ja" b="1">
                <a:solidFill>
                  <a:srgbClr val="0D6EFD"/>
                </a:solidFill>
              </a:rPr>
              <a:t>right arrow</a:t>
            </a:r>
            <a:r>
              <a:rPr lang="ja"/>
              <a:t> key.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2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9</a:t>
            </a:fld>
            <a:endParaRPr/>
          </a:p>
        </p:txBody>
      </p:sp>
      <p:sp>
        <p:nvSpPr>
          <p:cNvPr id="129" name="Google Shape;129;p22" title="PROGRESS_BAR_ID"/>
          <p:cNvSpPr/>
          <p:nvPr/>
        </p:nvSpPr>
        <p:spPr>
          <a:xfrm>
            <a:off x="0" y="4953000"/>
            <a:ext cx="1828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When you try out a lottery,</a:t>
            </a:r>
            <a:br>
              <a:rPr lang="ja"/>
            </a:br>
            <a:r>
              <a:rPr lang="ja">
                <a:solidFill>
                  <a:srgbClr val="444746"/>
                </a:solidFill>
              </a:rPr>
              <a:t>you will see the prize that you would have won if you had played the lottery</a:t>
            </a:r>
            <a:r>
              <a:rPr lang="ja"/>
              <a:t>.</a:t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3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3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10</a:t>
            </a:fld>
            <a:endParaRPr/>
          </a:p>
        </p:txBody>
      </p:sp>
      <p:sp>
        <p:nvSpPr>
          <p:cNvPr id="148" name="Google Shape;148;p23" title="PROGRESS_BAR_ID"/>
          <p:cNvSpPr/>
          <p:nvPr/>
        </p:nvSpPr>
        <p:spPr>
          <a:xfrm>
            <a:off x="0" y="4953000"/>
            <a:ext cx="2057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When you try out a lottery,</a:t>
            </a:r>
            <a:br>
              <a:rPr lang="ja">
                <a:solidFill>
                  <a:schemeClr val="dk2"/>
                </a:solidFill>
              </a:rPr>
            </a:br>
            <a:r>
              <a:rPr lang="ja">
                <a:solidFill>
                  <a:schemeClr val="dk2"/>
                </a:solidFill>
              </a:rPr>
              <a:t>you will see the prize that you would have won if you had played the lottery.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In the example, you are trying out the left lottery, and you would have won 3 points.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4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11</a:t>
            </a:fld>
            <a:endParaRPr/>
          </a:p>
        </p:txBody>
      </p:sp>
      <p:sp>
        <p:nvSpPr>
          <p:cNvPr id="167" name="Google Shape;167;p24" title="PROGRESS_BAR_ID"/>
          <p:cNvSpPr/>
          <p:nvPr/>
        </p:nvSpPr>
        <p:spPr>
          <a:xfrm>
            <a:off x="0" y="4953000"/>
            <a:ext cx="2286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Playing the same lottery again may result in a different prize. In this case 2 points.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5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5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12</a:t>
            </a:fld>
            <a:endParaRPr/>
          </a:p>
        </p:txBody>
      </p:sp>
      <p:sp>
        <p:nvSpPr>
          <p:cNvPr id="186" name="Google Shape;186;p25" title="PROGRESS_BAR_ID"/>
          <p:cNvSpPr/>
          <p:nvPr/>
        </p:nvSpPr>
        <p:spPr>
          <a:xfrm>
            <a:off x="0" y="4953000"/>
            <a:ext cx="2514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6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6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dirty="0">
                <a:solidFill>
                  <a:schemeClr val="dk2"/>
                </a:solidFill>
              </a:rPr>
              <a:t>Playing the same lottery again may result in a different prize. In this case 2 points.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dirty="0"/>
              <a:t>So, </a:t>
            </a:r>
            <a:r>
              <a:rPr lang="ja" b="1" dirty="0">
                <a:solidFill>
                  <a:srgbClr val="0D6EFD"/>
                </a:solidFill>
              </a:rPr>
              <a:t>a lottery will not necessarily show the same points every time you try it.</a:t>
            </a:r>
            <a:endParaRPr dirty="0"/>
          </a:p>
        </p:txBody>
      </p:sp>
      <p:sp>
        <p:nvSpPr>
          <p:cNvPr id="204" name="Google Shape;204;p26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13</a:t>
            </a:fld>
            <a:endParaRPr/>
          </a:p>
        </p:txBody>
      </p:sp>
      <p:sp>
        <p:nvSpPr>
          <p:cNvPr id="205" name="Google Shape;205;p26" title="PROGRESS_BAR_ID"/>
          <p:cNvSpPr/>
          <p:nvPr/>
        </p:nvSpPr>
        <p:spPr>
          <a:xfrm>
            <a:off x="0" y="4953000"/>
            <a:ext cx="2743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7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7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7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Try out the lotteries as many times as you like until you decide which one you want to play.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14</a:t>
            </a:fld>
            <a:endParaRPr/>
          </a:p>
        </p:txBody>
      </p:sp>
      <p:sp>
        <p:nvSpPr>
          <p:cNvPr id="223" name="Google Shape;223;p27" title="PROGRESS_BAR_ID"/>
          <p:cNvSpPr/>
          <p:nvPr/>
        </p:nvSpPr>
        <p:spPr>
          <a:xfrm>
            <a:off x="0" y="4953000"/>
            <a:ext cx="2971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8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chemeClr val="dk2"/>
                </a:solidFill>
              </a:rPr>
              <a:t>Try out the lotteries as many times as you like until you decide which one you want to play.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see the process of trying out the lotteries, watch the video on the next page.</a:t>
            </a:r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15</a:t>
            </a:fld>
            <a:endParaRPr/>
          </a:p>
        </p:txBody>
      </p:sp>
      <p:sp>
        <p:nvSpPr>
          <p:cNvPr id="241" name="Google Shape;241;p28" title="PROGRESS_BAR_ID"/>
          <p:cNvSpPr/>
          <p:nvPr/>
        </p:nvSpPr>
        <p:spPr>
          <a:xfrm>
            <a:off x="0" y="4953000"/>
            <a:ext cx="3200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16</a:t>
            </a:fld>
            <a:endParaRPr/>
          </a:p>
        </p:txBody>
      </p:sp>
      <p:pic>
        <p:nvPicPr>
          <p:cNvPr id="248" name="Google Shape;248;p29" title="sampl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 title="PROGRESS_BAR_ID"/>
          <p:cNvSpPr/>
          <p:nvPr/>
        </p:nvSpPr>
        <p:spPr>
          <a:xfrm>
            <a:off x="0" y="4953000"/>
            <a:ext cx="3429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Once you have decided which lottery you want to play,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stop pressing the left and right arrow keys and click on the lottery you want to play.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0"/>
          <p:cNvSpPr txBox="1"/>
          <p:nvPr/>
        </p:nvSpPr>
        <p:spPr>
          <a:xfrm>
            <a:off x="305075" y="4115025"/>
            <a:ext cx="2907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*You can also click with the touchpad.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0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17</a:t>
            </a:fld>
            <a:endParaRPr/>
          </a:p>
        </p:txBody>
      </p:sp>
      <p:sp>
        <p:nvSpPr>
          <p:cNvPr id="264" name="Google Shape;264;p30" title="PROGRESS_BAR_ID"/>
          <p:cNvSpPr/>
          <p:nvPr/>
        </p:nvSpPr>
        <p:spPr>
          <a:xfrm>
            <a:off x="0" y="4953000"/>
            <a:ext cx="3657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1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The selected lottery will turn blue.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You will not see the prize for the lottery you have played.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see the process of playing a lottery, watch the video on the next page.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277" name="Google Shape;277;p31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18</a:t>
            </a:fld>
            <a:endParaRPr/>
          </a:p>
        </p:txBody>
      </p:sp>
      <p:sp>
        <p:nvSpPr>
          <p:cNvPr id="278" name="Google Shape;278;p31" title="PROGRESS_BAR_ID"/>
          <p:cNvSpPr/>
          <p:nvPr/>
        </p:nvSpPr>
        <p:spPr>
          <a:xfrm>
            <a:off x="0" y="4953000"/>
            <a:ext cx="3886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19</a:t>
            </a:fld>
            <a:endParaRPr/>
          </a:p>
        </p:txBody>
      </p:sp>
      <p:pic>
        <p:nvPicPr>
          <p:cNvPr id="284" name="Google Shape;284;p32" title="choic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 title="PROGRESS_BAR_ID"/>
          <p:cNvSpPr/>
          <p:nvPr/>
        </p:nvSpPr>
        <p:spPr>
          <a:xfrm>
            <a:off x="0" y="4953000"/>
            <a:ext cx="4114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3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Please try or play a lottery within 3 seconds.</a:t>
            </a:r>
            <a:endParaRPr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If you do not respond within</a:t>
            </a:r>
            <a:br>
              <a:rPr lang="ja"/>
            </a:br>
            <a:r>
              <a:rPr lang="ja"/>
              <a:t>3 seconds, a message will prompt you to respond.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270000" y="1699346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Please try or play a lottery now!</a:t>
            </a:r>
            <a:endParaRPr sz="15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3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20</a:t>
            </a:fld>
            <a:endParaRPr/>
          </a:p>
        </p:txBody>
      </p:sp>
      <p:sp>
        <p:nvSpPr>
          <p:cNvPr id="296" name="Google Shape;296;p33" title="PROGRESS_BAR_ID"/>
          <p:cNvSpPr/>
          <p:nvPr/>
        </p:nvSpPr>
        <p:spPr>
          <a:xfrm>
            <a:off x="0" y="4953000"/>
            <a:ext cx="4343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4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4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FF0000"/>
                </a:solidFill>
              </a:rPr>
              <a:t>If you do not respond within 15 seconds, you will be considered to have dropped out of the task and will not receive any reward.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A timer will appear for the last 5 seconds.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305" name="Google Shape;305;p34"/>
          <p:cNvSpPr txBox="1"/>
          <p:nvPr/>
        </p:nvSpPr>
        <p:spPr>
          <a:xfrm>
            <a:off x="937346" y="3478805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DC3545"/>
                </a:solidFill>
                <a:latin typeface="Roboto"/>
                <a:ea typeface="Roboto"/>
                <a:cs typeface="Roboto"/>
                <a:sym typeface="Roboto"/>
              </a:rPr>
              <a:t>Timer</a:t>
            </a:r>
            <a:endParaRPr sz="2400">
              <a:solidFill>
                <a:srgbClr val="DC35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1318500" y="1998650"/>
            <a:ext cx="7830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 b="1">
                <a:solidFill>
                  <a:srgbClr val="DC354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2400" b="1">
              <a:solidFill>
                <a:srgbClr val="DC35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34"/>
          <p:cNvCxnSpPr/>
          <p:nvPr/>
        </p:nvCxnSpPr>
        <p:spPr>
          <a:xfrm rot="10800000" flipH="1">
            <a:off x="1703175" y="2400200"/>
            <a:ext cx="3600" cy="1123200"/>
          </a:xfrm>
          <a:prstGeom prst="straightConnector1">
            <a:avLst/>
          </a:prstGeom>
          <a:noFill/>
          <a:ln w="28575" cap="flat" cmpd="sng">
            <a:solidFill>
              <a:srgbClr val="DC354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8" name="Google Shape;308;p34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21</a:t>
            </a:fld>
            <a:endParaRPr/>
          </a:p>
        </p:txBody>
      </p:sp>
      <p:sp>
        <p:nvSpPr>
          <p:cNvPr id="309" name="Google Shape;309;p34" title="PROGRESS_BAR_ID"/>
          <p:cNvSpPr/>
          <p:nvPr/>
        </p:nvSpPr>
        <p:spPr>
          <a:xfrm>
            <a:off x="0" y="4953000"/>
            <a:ext cx="4572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You will not do the task alone.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5" title="PROGRESS_BAR_ID"/>
          <p:cNvSpPr/>
          <p:nvPr/>
        </p:nvSpPr>
        <p:spPr>
          <a:xfrm>
            <a:off x="0" y="4953000"/>
            <a:ext cx="4800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>
            <a:spLocks noGrp="1"/>
          </p:cNvSpPr>
          <p:nvPr>
            <p:ph type="body" idx="1"/>
          </p:nvPr>
        </p:nvSpPr>
        <p:spPr>
          <a:xfrm>
            <a:off x="3379000" y="597900"/>
            <a:ext cx="54951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dirty="0"/>
              <a:t>Before the task, you will be matched with four other participants (= Prolific workers), whom we will call “Players.”</a:t>
            </a:r>
            <a:endParaRPr lang="en-US" altLang="ja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ja" dirty="0"/>
              <a:t>You will work on the task in a group of five.</a:t>
            </a:r>
            <a:endParaRPr lang="en-US" altLang="ja-JP" dirty="0"/>
          </a:p>
        </p:txBody>
      </p:sp>
      <p:pic>
        <p:nvPicPr>
          <p:cNvPr id="322" name="Google Shape;3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50" y="660475"/>
            <a:ext cx="718997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286" y="660475"/>
            <a:ext cx="718997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 txBox="1"/>
          <p:nvPr/>
        </p:nvSpPr>
        <p:spPr>
          <a:xfrm>
            <a:off x="269996" y="1380468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1694133" y="1380468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Player 1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23</a:t>
            </a:fld>
            <a:endParaRPr/>
          </a:p>
        </p:txBody>
      </p:sp>
      <p:pic>
        <p:nvPicPr>
          <p:cNvPr id="327" name="Google Shape;32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49" y="1934700"/>
            <a:ext cx="718997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6"/>
          <p:cNvSpPr txBox="1"/>
          <p:nvPr/>
        </p:nvSpPr>
        <p:spPr>
          <a:xfrm>
            <a:off x="269996" y="2654693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Player 2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286" y="1934700"/>
            <a:ext cx="718997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6"/>
          <p:cNvSpPr txBox="1"/>
          <p:nvPr/>
        </p:nvSpPr>
        <p:spPr>
          <a:xfrm>
            <a:off x="1694133" y="2654693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Player 3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1" name="Google Shape;3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49" y="3208925"/>
            <a:ext cx="718997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6"/>
          <p:cNvSpPr txBox="1"/>
          <p:nvPr/>
        </p:nvSpPr>
        <p:spPr>
          <a:xfrm>
            <a:off x="269996" y="3928918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Player 4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330900" y="480600"/>
            <a:ext cx="2819100" cy="4065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6" title="PROGRESS_BAR_ID"/>
          <p:cNvSpPr/>
          <p:nvPr/>
        </p:nvSpPr>
        <p:spPr>
          <a:xfrm>
            <a:off x="0" y="4953000"/>
            <a:ext cx="5029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7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7"/>
          <p:cNvSpPr txBox="1"/>
          <p:nvPr/>
        </p:nvSpPr>
        <p:spPr>
          <a:xfrm>
            <a:off x="270000" y="2702050"/>
            <a:ext cx="288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*Another player's screen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7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24</a:t>
            </a:fld>
            <a:endParaRPr/>
          </a:p>
        </p:txBody>
      </p:sp>
      <p:sp>
        <p:nvSpPr>
          <p:cNvPr id="344" name="Google Shape;344;p37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While you are trying out the lotteries, the other players are also trying out the same lotteries.</a:t>
            </a:r>
            <a:endParaRPr/>
          </a:p>
        </p:txBody>
      </p:sp>
      <p:sp>
        <p:nvSpPr>
          <p:cNvPr id="345" name="Google Shape;345;p37" title="PROGRESS_BAR_ID"/>
          <p:cNvSpPr/>
          <p:nvPr/>
        </p:nvSpPr>
        <p:spPr>
          <a:xfrm>
            <a:off x="0" y="4953000"/>
            <a:ext cx="5257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25</a:t>
            </a:fld>
            <a:endParaRPr/>
          </a:p>
        </p:txBody>
      </p:sp>
      <p:sp>
        <p:nvSpPr>
          <p:cNvPr id="351" name="Google Shape;351;p38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8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8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8"/>
          <p:cNvSpPr txBox="1"/>
          <p:nvPr/>
        </p:nvSpPr>
        <p:spPr>
          <a:xfrm>
            <a:off x="270000" y="2702050"/>
            <a:ext cx="288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*Your screen until the other players try or play a lottery.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8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You and the other players will do the task at the same pace.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This means that you need to wait to see the prize until everyone tries or plays a lottery.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The same goes for the others.</a:t>
            </a:r>
            <a:endParaRPr/>
          </a:p>
        </p:txBody>
      </p:sp>
      <p:sp>
        <p:nvSpPr>
          <p:cNvPr id="356" name="Google Shape;356;p38" title="PROGRESS_BAR_ID"/>
          <p:cNvSpPr/>
          <p:nvPr/>
        </p:nvSpPr>
        <p:spPr>
          <a:xfrm>
            <a:off x="0" y="4953000"/>
            <a:ext cx="5486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9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9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9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When one of you makes a final choice, that choice becomes visible to everyone.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369" name="Google Shape;369;p39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26</a:t>
            </a:fld>
            <a:endParaRPr/>
          </a:p>
        </p:txBody>
      </p:sp>
      <p:sp>
        <p:nvSpPr>
          <p:cNvPr id="370" name="Google Shape;370;p39" title="PROGRESS_BAR_ID"/>
          <p:cNvSpPr/>
          <p:nvPr/>
        </p:nvSpPr>
        <p:spPr>
          <a:xfrm>
            <a:off x="0" y="4953000"/>
            <a:ext cx="5715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0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" name="Google Shape;3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0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chemeClr val="dk2"/>
                </a:solidFill>
              </a:rPr>
              <a:t>When one of you makes a final choice, that choice becomes visible to everyone.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This means that you will see other players’ final choices in real time.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383" name="Google Shape;383;p40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27</a:t>
            </a:fld>
            <a:endParaRPr/>
          </a:p>
        </p:txBody>
      </p:sp>
      <p:sp>
        <p:nvSpPr>
          <p:cNvPr id="384" name="Google Shape;384;p40" title="PROGRESS_BAR_ID"/>
          <p:cNvSpPr/>
          <p:nvPr/>
        </p:nvSpPr>
        <p:spPr>
          <a:xfrm>
            <a:off x="0" y="4953000"/>
            <a:ext cx="5943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/>
          <p:nvPr/>
        </p:nvSpPr>
        <p:spPr>
          <a:xfrm>
            <a:off x="270000" y="597900"/>
            <a:ext cx="2880000" cy="16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1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2" name="Google Shape;3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25" y="978650"/>
            <a:ext cx="288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1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If another player plays </a:t>
            </a:r>
            <a:r>
              <a:rPr lang="ja" b="1">
                <a:solidFill>
                  <a:srgbClr val="0D6EFD"/>
                </a:solidFill>
              </a:rPr>
              <a:t>left</a:t>
            </a:r>
            <a:r>
              <a:rPr lang="ja"/>
              <a:t>,</a:t>
            </a:r>
            <a:br>
              <a:rPr lang="ja"/>
            </a:br>
            <a:r>
              <a:rPr lang="ja"/>
              <a:t>a human icon will appear above your </a:t>
            </a:r>
            <a:r>
              <a:rPr lang="ja" b="1">
                <a:solidFill>
                  <a:srgbClr val="0D6EFD"/>
                </a:solidFill>
              </a:rPr>
              <a:t>left</a:t>
            </a:r>
            <a:r>
              <a:rPr lang="ja"/>
              <a:t> lottery.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94" name="Google Shape;394;p41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28</a:t>
            </a:fld>
            <a:endParaRPr/>
          </a:p>
        </p:txBody>
      </p:sp>
      <p:sp>
        <p:nvSpPr>
          <p:cNvPr id="395" name="Google Shape;395;p41" title="PROGRESS_BAR_ID"/>
          <p:cNvSpPr/>
          <p:nvPr/>
        </p:nvSpPr>
        <p:spPr>
          <a:xfrm>
            <a:off x="0" y="4953000"/>
            <a:ext cx="6172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/>
          <p:nvPr/>
        </p:nvSpPr>
        <p:spPr>
          <a:xfrm>
            <a:off x="270000" y="597900"/>
            <a:ext cx="2880000" cy="16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42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42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2"/>
          <p:cNvSpPr/>
          <p:nvPr/>
        </p:nvSpPr>
        <p:spPr>
          <a:xfrm>
            <a:off x="270000" y="2775450"/>
            <a:ext cx="2880000" cy="16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630000" y="349545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2"/>
          <p:cNvSpPr/>
          <p:nvPr/>
        </p:nvSpPr>
        <p:spPr>
          <a:xfrm>
            <a:off x="2070000" y="349545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2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29</a:t>
            </a:fld>
            <a:endParaRPr/>
          </a:p>
        </p:txBody>
      </p:sp>
      <p:sp>
        <p:nvSpPr>
          <p:cNvPr id="407" name="Google Shape;407;p42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>
                <a:solidFill>
                  <a:schemeClr val="dk2"/>
                </a:solidFill>
              </a:rPr>
              <a:t>If another player plays </a:t>
            </a:r>
            <a:r>
              <a:rPr lang="ja" b="1">
                <a:solidFill>
                  <a:schemeClr val="dk2"/>
                </a:solidFill>
              </a:rPr>
              <a:t>left</a:t>
            </a:r>
            <a:r>
              <a:rPr lang="ja">
                <a:solidFill>
                  <a:schemeClr val="dk2"/>
                </a:solidFill>
              </a:rPr>
              <a:t>,</a:t>
            </a:r>
            <a:br>
              <a:rPr lang="ja">
                <a:solidFill>
                  <a:schemeClr val="dk2"/>
                </a:solidFill>
              </a:rPr>
            </a:br>
            <a:r>
              <a:rPr lang="ja">
                <a:solidFill>
                  <a:schemeClr val="dk2"/>
                </a:solidFill>
              </a:rPr>
              <a:t>a human icon will appear above your </a:t>
            </a:r>
            <a:r>
              <a:rPr lang="ja" b="1">
                <a:solidFill>
                  <a:schemeClr val="dk2"/>
                </a:solidFill>
              </a:rPr>
              <a:t>left</a:t>
            </a:r>
            <a:r>
              <a:rPr lang="ja">
                <a:solidFill>
                  <a:schemeClr val="dk2"/>
                </a:solidFill>
              </a:rPr>
              <a:t> lottery.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408" name="Google Shape;408;p42"/>
          <p:cNvSpPr txBox="1">
            <a:spLocks noGrp="1"/>
          </p:cNvSpPr>
          <p:nvPr>
            <p:ph type="body" idx="1"/>
          </p:nvPr>
        </p:nvSpPr>
        <p:spPr>
          <a:xfrm>
            <a:off x="3531425" y="2775450"/>
            <a:ext cx="5342700" cy="1770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If another player plays </a:t>
            </a:r>
            <a:r>
              <a:rPr lang="ja" b="1">
                <a:solidFill>
                  <a:srgbClr val="0D6EFD"/>
                </a:solidFill>
              </a:rPr>
              <a:t>right</a:t>
            </a:r>
            <a:r>
              <a:rPr lang="ja"/>
              <a:t>,</a:t>
            </a:r>
            <a:br>
              <a:rPr lang="ja"/>
            </a:br>
            <a:r>
              <a:rPr lang="ja"/>
              <a:t>a human icon will appear</a:t>
            </a:r>
            <a:br>
              <a:rPr lang="ja"/>
            </a:br>
            <a:r>
              <a:rPr lang="ja"/>
              <a:t>above your </a:t>
            </a:r>
            <a:r>
              <a:rPr lang="ja" b="1">
                <a:solidFill>
                  <a:srgbClr val="0D6EFD"/>
                </a:solidFill>
              </a:rPr>
              <a:t>right</a:t>
            </a:r>
            <a:r>
              <a:rPr lang="ja"/>
              <a:t> lottery.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409" name="Google Shape;40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25" y="978650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902" y="3155550"/>
            <a:ext cx="288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2" title="PROGRESS_BAR_ID"/>
          <p:cNvSpPr/>
          <p:nvPr/>
        </p:nvSpPr>
        <p:spPr>
          <a:xfrm>
            <a:off x="0" y="4953000"/>
            <a:ext cx="6400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/>
          <p:nvPr/>
        </p:nvSpPr>
        <p:spPr>
          <a:xfrm>
            <a:off x="270000" y="597900"/>
            <a:ext cx="2880000" cy="16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43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9" name="Google Shape;4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25" y="978650"/>
            <a:ext cx="288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3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For example, if three players have played left and one player has played right, the human icons will be displayed as shown on the left.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421" name="Google Shape;421;p43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30</a:t>
            </a:fld>
            <a:endParaRPr/>
          </a:p>
        </p:txBody>
      </p:sp>
      <p:pic>
        <p:nvPicPr>
          <p:cNvPr id="422" name="Google Shape;42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25" y="639400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683" y="978650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833" y="978650"/>
            <a:ext cx="288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 title="PROGRESS_BAR_ID"/>
          <p:cNvSpPr/>
          <p:nvPr/>
        </p:nvSpPr>
        <p:spPr>
          <a:xfrm>
            <a:off x="0" y="4953000"/>
            <a:ext cx="6629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4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The other players will also see your final choice in the same way.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In the example, you play the left lottery, and the others will see that you have played the left one.</a:t>
            </a:r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4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4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31</a:t>
            </a:fld>
            <a:endParaRPr/>
          </a:p>
        </p:txBody>
      </p:sp>
      <p:sp>
        <p:nvSpPr>
          <p:cNvPr id="439" name="Google Shape;439;p44" title="PROGRESS_BAR_ID"/>
          <p:cNvSpPr/>
          <p:nvPr/>
        </p:nvSpPr>
        <p:spPr>
          <a:xfrm>
            <a:off x="0" y="4953000"/>
            <a:ext cx="6858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You and the other players are </a:t>
            </a:r>
            <a:r>
              <a:rPr lang="ja" b="1">
                <a:solidFill>
                  <a:srgbClr val="0D6EFD"/>
                </a:solidFill>
              </a:rPr>
              <a:t>NOT</a:t>
            </a:r>
            <a:r>
              <a:rPr lang="ja"/>
              <a:t> in competition.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Your bonus depends only on your own choices.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45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8" name="Google Shape;4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5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32</a:t>
            </a:fld>
            <a:endParaRPr/>
          </a:p>
        </p:txBody>
      </p:sp>
      <p:sp>
        <p:nvSpPr>
          <p:cNvPr id="453" name="Google Shape;453;p45" title="PROGRESS_BAR_ID"/>
          <p:cNvSpPr/>
          <p:nvPr/>
        </p:nvSpPr>
        <p:spPr>
          <a:xfrm>
            <a:off x="0" y="4953000"/>
            <a:ext cx="7086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6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Once everyone has played a lottery (= made a final choice), the next round begins.</a:t>
            </a:r>
            <a:endParaRPr/>
          </a:p>
        </p:txBody>
      </p:sp>
      <p:sp>
        <p:nvSpPr>
          <p:cNvPr id="459" name="Google Shape;459;p46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Round 2/40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6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33</a:t>
            </a:fld>
            <a:endParaRPr/>
          </a:p>
        </p:txBody>
      </p:sp>
      <p:sp>
        <p:nvSpPr>
          <p:cNvPr id="461" name="Google Shape;461;p46" title="PROGRESS_BAR_ID"/>
          <p:cNvSpPr/>
          <p:nvPr/>
        </p:nvSpPr>
        <p:spPr>
          <a:xfrm>
            <a:off x="0" y="4953000"/>
            <a:ext cx="7315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7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Let’s recap the flow of a round and do a comprehension check.</a:t>
            </a:r>
            <a:endParaRPr/>
          </a:p>
        </p:txBody>
      </p:sp>
      <p:sp>
        <p:nvSpPr>
          <p:cNvPr id="467" name="Google Shape;467;p47" title="PROGRESS_BAR_ID"/>
          <p:cNvSpPr/>
          <p:nvPr/>
        </p:nvSpPr>
        <p:spPr>
          <a:xfrm>
            <a:off x="0" y="4953000"/>
            <a:ext cx="7543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48"/>
          <p:cNvGrpSpPr/>
          <p:nvPr/>
        </p:nvGrpSpPr>
        <p:grpSpPr>
          <a:xfrm>
            <a:off x="2293800" y="1010758"/>
            <a:ext cx="1440000" cy="1028160"/>
            <a:chOff x="3756875" y="1790700"/>
            <a:chExt cx="2880000" cy="2160000"/>
          </a:xfrm>
        </p:grpSpPr>
        <p:sp>
          <p:nvSpPr>
            <p:cNvPr id="473" name="Google Shape;473;p48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6" name="Google Shape;476;p48"/>
          <p:cNvCxnSpPr/>
          <p:nvPr/>
        </p:nvCxnSpPr>
        <p:spPr>
          <a:xfrm>
            <a:off x="2287401" y="2290950"/>
            <a:ext cx="1004400" cy="88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7" name="Google Shape;477;p48"/>
          <p:cNvSpPr/>
          <p:nvPr/>
        </p:nvSpPr>
        <p:spPr>
          <a:xfrm>
            <a:off x="67205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8"/>
          <p:cNvSpPr/>
          <p:nvPr/>
        </p:nvSpPr>
        <p:spPr>
          <a:xfrm>
            <a:off x="136190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48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8"/>
          <p:cNvSpPr/>
          <p:nvPr/>
        </p:nvSpPr>
        <p:spPr>
          <a:xfrm rot="-5400000" flipH="1">
            <a:off x="747050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48"/>
          <p:cNvGrpSpPr/>
          <p:nvPr/>
        </p:nvGrpSpPr>
        <p:grpSpPr>
          <a:xfrm>
            <a:off x="2446200" y="1163158"/>
            <a:ext cx="1440000" cy="1028160"/>
            <a:chOff x="3756875" y="1790700"/>
            <a:chExt cx="2880000" cy="2160000"/>
          </a:xfrm>
        </p:grpSpPr>
        <p:sp>
          <p:nvSpPr>
            <p:cNvPr id="482" name="Google Shape;482;p48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48"/>
          <p:cNvGrpSpPr/>
          <p:nvPr/>
        </p:nvGrpSpPr>
        <p:grpSpPr>
          <a:xfrm>
            <a:off x="2598600" y="1315558"/>
            <a:ext cx="1440000" cy="1028160"/>
            <a:chOff x="3756875" y="1790700"/>
            <a:chExt cx="2880000" cy="2160000"/>
          </a:xfrm>
        </p:grpSpPr>
        <p:sp>
          <p:nvSpPr>
            <p:cNvPr id="486" name="Google Shape;486;p48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48"/>
          <p:cNvGrpSpPr/>
          <p:nvPr/>
        </p:nvGrpSpPr>
        <p:grpSpPr>
          <a:xfrm>
            <a:off x="2751000" y="1467958"/>
            <a:ext cx="1440000" cy="1028160"/>
            <a:chOff x="3756875" y="1790700"/>
            <a:chExt cx="2880000" cy="2160000"/>
          </a:xfrm>
        </p:grpSpPr>
        <p:sp>
          <p:nvSpPr>
            <p:cNvPr id="490" name="Google Shape;490;p48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48"/>
          <p:cNvGrpSpPr/>
          <p:nvPr/>
        </p:nvGrpSpPr>
        <p:grpSpPr>
          <a:xfrm>
            <a:off x="2903400" y="1620358"/>
            <a:ext cx="1440000" cy="1028160"/>
            <a:chOff x="3756875" y="1790700"/>
            <a:chExt cx="2880000" cy="2160000"/>
          </a:xfrm>
        </p:grpSpPr>
        <p:sp>
          <p:nvSpPr>
            <p:cNvPr id="494" name="Google Shape;494;p48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48"/>
          <p:cNvSpPr/>
          <p:nvPr/>
        </p:nvSpPr>
        <p:spPr>
          <a:xfrm>
            <a:off x="3055800" y="1772758"/>
            <a:ext cx="1440000" cy="1028100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48"/>
          <p:cNvCxnSpPr/>
          <p:nvPr/>
        </p:nvCxnSpPr>
        <p:spPr>
          <a:xfrm>
            <a:off x="3808650" y="2837360"/>
            <a:ext cx="345600" cy="34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499" name="Google Shape;4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1524158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42925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48"/>
          <p:cNvCxnSpPr/>
          <p:nvPr/>
        </p:nvCxnSpPr>
        <p:spPr>
          <a:xfrm>
            <a:off x="5544600" y="931850"/>
            <a:ext cx="0" cy="39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2" name="Google Shape;502;p48"/>
          <p:cNvSpPr/>
          <p:nvPr/>
        </p:nvSpPr>
        <p:spPr>
          <a:xfrm>
            <a:off x="3234600" y="2223240"/>
            <a:ext cx="432000" cy="432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8"/>
          <p:cNvSpPr/>
          <p:nvPr/>
        </p:nvSpPr>
        <p:spPr>
          <a:xfrm>
            <a:off x="3885000" y="2223253"/>
            <a:ext cx="432000" cy="432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8"/>
          <p:cNvSpPr txBox="1">
            <a:spLocks noGrp="1"/>
          </p:cNvSpPr>
          <p:nvPr>
            <p:ph type="body" idx="1"/>
          </p:nvPr>
        </p:nvSpPr>
        <p:spPr>
          <a:xfrm>
            <a:off x="5613250" y="890025"/>
            <a:ext cx="3329400" cy="2739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ja" sz="2100"/>
              <a:t>Try out the lotteries until you decide which one you want to play.</a:t>
            </a:r>
            <a:endParaRPr sz="2100"/>
          </a:p>
        </p:txBody>
      </p:sp>
      <p:sp>
        <p:nvSpPr>
          <p:cNvPr id="505" name="Google Shape;505;p48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Flow of a round</a:t>
            </a:r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35</a:t>
            </a:fld>
            <a:endParaRPr/>
          </a:p>
        </p:txBody>
      </p:sp>
      <p:sp>
        <p:nvSpPr>
          <p:cNvPr id="507" name="Google Shape;507;p48" title="PROGRESS_BAR_ID"/>
          <p:cNvSpPr/>
          <p:nvPr/>
        </p:nvSpPr>
        <p:spPr>
          <a:xfrm>
            <a:off x="0" y="4953000"/>
            <a:ext cx="7772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49"/>
          <p:cNvGrpSpPr/>
          <p:nvPr/>
        </p:nvGrpSpPr>
        <p:grpSpPr>
          <a:xfrm>
            <a:off x="2293800" y="1010758"/>
            <a:ext cx="1440000" cy="1028160"/>
            <a:chOff x="3756875" y="1790700"/>
            <a:chExt cx="2880000" cy="2160000"/>
          </a:xfrm>
        </p:grpSpPr>
        <p:sp>
          <p:nvSpPr>
            <p:cNvPr id="513" name="Google Shape;513;p49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6" name="Google Shape;516;p49"/>
          <p:cNvCxnSpPr/>
          <p:nvPr/>
        </p:nvCxnSpPr>
        <p:spPr>
          <a:xfrm>
            <a:off x="2287401" y="2290950"/>
            <a:ext cx="1004400" cy="88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49"/>
          <p:cNvSpPr/>
          <p:nvPr/>
        </p:nvSpPr>
        <p:spPr>
          <a:xfrm>
            <a:off x="67205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49"/>
          <p:cNvSpPr/>
          <p:nvPr/>
        </p:nvSpPr>
        <p:spPr>
          <a:xfrm>
            <a:off x="136190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49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9"/>
          <p:cNvSpPr/>
          <p:nvPr/>
        </p:nvSpPr>
        <p:spPr>
          <a:xfrm rot="-5400000" flipH="1">
            <a:off x="747050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1" name="Google Shape;521;p49"/>
          <p:cNvGrpSpPr/>
          <p:nvPr/>
        </p:nvGrpSpPr>
        <p:grpSpPr>
          <a:xfrm>
            <a:off x="2446200" y="1163158"/>
            <a:ext cx="1440000" cy="1028160"/>
            <a:chOff x="3756875" y="1790700"/>
            <a:chExt cx="2880000" cy="2160000"/>
          </a:xfrm>
        </p:grpSpPr>
        <p:sp>
          <p:nvSpPr>
            <p:cNvPr id="522" name="Google Shape;522;p49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3" name="Google Shape;523;p49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9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9"/>
          <p:cNvGrpSpPr/>
          <p:nvPr/>
        </p:nvGrpSpPr>
        <p:grpSpPr>
          <a:xfrm>
            <a:off x="2598600" y="1315558"/>
            <a:ext cx="1440000" cy="1028160"/>
            <a:chOff x="3756875" y="1790700"/>
            <a:chExt cx="2880000" cy="2160000"/>
          </a:xfrm>
        </p:grpSpPr>
        <p:sp>
          <p:nvSpPr>
            <p:cNvPr id="526" name="Google Shape;526;p49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9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49"/>
          <p:cNvGrpSpPr/>
          <p:nvPr/>
        </p:nvGrpSpPr>
        <p:grpSpPr>
          <a:xfrm>
            <a:off x="2751000" y="1467958"/>
            <a:ext cx="1440000" cy="1028160"/>
            <a:chOff x="3756875" y="1790700"/>
            <a:chExt cx="2880000" cy="2160000"/>
          </a:xfrm>
        </p:grpSpPr>
        <p:sp>
          <p:nvSpPr>
            <p:cNvPr id="530" name="Google Shape;530;p49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1" name="Google Shape;531;p49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9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49"/>
          <p:cNvGrpSpPr/>
          <p:nvPr/>
        </p:nvGrpSpPr>
        <p:grpSpPr>
          <a:xfrm>
            <a:off x="2903400" y="1620358"/>
            <a:ext cx="1440000" cy="1028160"/>
            <a:chOff x="3756875" y="1790700"/>
            <a:chExt cx="2880000" cy="2160000"/>
          </a:xfrm>
        </p:grpSpPr>
        <p:sp>
          <p:nvSpPr>
            <p:cNvPr id="534" name="Google Shape;534;p49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5" name="Google Shape;535;p49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9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49"/>
          <p:cNvSpPr/>
          <p:nvPr/>
        </p:nvSpPr>
        <p:spPr>
          <a:xfrm>
            <a:off x="3055800" y="1772758"/>
            <a:ext cx="1440000" cy="1028100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3234600" y="2223240"/>
            <a:ext cx="432000" cy="432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49"/>
          <p:cNvSpPr/>
          <p:nvPr/>
        </p:nvSpPr>
        <p:spPr>
          <a:xfrm>
            <a:off x="3885000" y="2223253"/>
            <a:ext cx="432000" cy="432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0" name="Google Shape;540;p49"/>
          <p:cNvCxnSpPr/>
          <p:nvPr/>
        </p:nvCxnSpPr>
        <p:spPr>
          <a:xfrm>
            <a:off x="3808650" y="2837360"/>
            <a:ext cx="345600" cy="34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1524158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42925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49"/>
          <p:cNvCxnSpPr/>
          <p:nvPr/>
        </p:nvCxnSpPr>
        <p:spPr>
          <a:xfrm>
            <a:off x="5544600" y="931850"/>
            <a:ext cx="0" cy="39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4" name="Google Shape;54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3263" y="201133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9"/>
          <p:cNvSpPr txBox="1">
            <a:spLocks noGrp="1"/>
          </p:cNvSpPr>
          <p:nvPr>
            <p:ph type="title" idx="4294967295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/>
              <a:t>Flow of a round</a:t>
            </a:r>
            <a:endParaRPr b="1"/>
          </a:p>
        </p:txBody>
      </p:sp>
      <p:sp>
        <p:nvSpPr>
          <p:cNvPr id="546" name="Google Shape;546;p49"/>
          <p:cNvSpPr txBox="1"/>
          <p:nvPr/>
        </p:nvSpPr>
        <p:spPr>
          <a:xfrm>
            <a:off x="5613250" y="890025"/>
            <a:ext cx="3329400" cy="27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Try out the lotteries until you decide which one you want to play.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ja" sz="2100">
                <a:solidFill>
                  <a:srgbClr val="404157"/>
                </a:solidFill>
                <a:latin typeface="Roboto"/>
                <a:ea typeface="Roboto"/>
                <a:cs typeface="Roboto"/>
                <a:sym typeface="Roboto"/>
              </a:rPr>
              <a:t>You may see other players’ final choices along the way.</a:t>
            </a:r>
            <a:endParaRPr sz="2100">
              <a:solidFill>
                <a:srgbClr val="4041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9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36</a:t>
            </a:fld>
            <a:endParaRPr/>
          </a:p>
        </p:txBody>
      </p:sp>
      <p:sp>
        <p:nvSpPr>
          <p:cNvPr id="548" name="Google Shape;548;p49" title="PROGRESS_BAR_ID"/>
          <p:cNvSpPr/>
          <p:nvPr/>
        </p:nvSpPr>
        <p:spPr>
          <a:xfrm>
            <a:off x="0" y="4953000"/>
            <a:ext cx="8001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42926" y="2211750"/>
            <a:ext cx="719999" cy="7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1526176" y="2211750"/>
            <a:ext cx="719999" cy="7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50"/>
          <p:cNvGrpSpPr/>
          <p:nvPr/>
        </p:nvGrpSpPr>
        <p:grpSpPr>
          <a:xfrm>
            <a:off x="2293800" y="1010758"/>
            <a:ext cx="1440000" cy="1028160"/>
            <a:chOff x="3756875" y="1790700"/>
            <a:chExt cx="2880000" cy="2160000"/>
          </a:xfrm>
        </p:grpSpPr>
        <p:sp>
          <p:nvSpPr>
            <p:cNvPr id="556" name="Google Shape;556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7" name="Google Shape;557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59" name="Google Shape;559;p50"/>
          <p:cNvCxnSpPr/>
          <p:nvPr/>
        </p:nvCxnSpPr>
        <p:spPr>
          <a:xfrm>
            <a:off x="2287401" y="2290950"/>
            <a:ext cx="1508400" cy="1343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0" name="Google Shape;560;p50"/>
          <p:cNvSpPr/>
          <p:nvPr/>
        </p:nvSpPr>
        <p:spPr>
          <a:xfrm>
            <a:off x="67205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50"/>
          <p:cNvSpPr/>
          <p:nvPr/>
        </p:nvSpPr>
        <p:spPr>
          <a:xfrm rot="-5400000" flipH="1">
            <a:off x="747050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50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3" name="Google Shape;563;p50"/>
          <p:cNvGrpSpPr/>
          <p:nvPr/>
        </p:nvGrpSpPr>
        <p:grpSpPr>
          <a:xfrm>
            <a:off x="2446200" y="1163158"/>
            <a:ext cx="1440000" cy="1028160"/>
            <a:chOff x="3756875" y="1790700"/>
            <a:chExt cx="2880000" cy="2160000"/>
          </a:xfrm>
        </p:grpSpPr>
        <p:sp>
          <p:nvSpPr>
            <p:cNvPr id="564" name="Google Shape;564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5" name="Google Shape;565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7" name="Google Shape;567;p50"/>
          <p:cNvSpPr/>
          <p:nvPr/>
        </p:nvSpPr>
        <p:spPr>
          <a:xfrm>
            <a:off x="136190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8" name="Google Shape;568;p50"/>
          <p:cNvGrpSpPr/>
          <p:nvPr/>
        </p:nvGrpSpPr>
        <p:grpSpPr>
          <a:xfrm>
            <a:off x="2598600" y="1315558"/>
            <a:ext cx="1440000" cy="1028160"/>
            <a:chOff x="3756875" y="1790700"/>
            <a:chExt cx="2880000" cy="2160000"/>
          </a:xfrm>
        </p:grpSpPr>
        <p:sp>
          <p:nvSpPr>
            <p:cNvPr id="569" name="Google Shape;569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0" name="Google Shape;570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50"/>
          <p:cNvGrpSpPr/>
          <p:nvPr/>
        </p:nvGrpSpPr>
        <p:grpSpPr>
          <a:xfrm>
            <a:off x="2751000" y="1467958"/>
            <a:ext cx="1440000" cy="1028160"/>
            <a:chOff x="3756875" y="1790700"/>
            <a:chExt cx="2880000" cy="2160000"/>
          </a:xfrm>
        </p:grpSpPr>
        <p:sp>
          <p:nvSpPr>
            <p:cNvPr id="573" name="Google Shape;573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50"/>
          <p:cNvGrpSpPr/>
          <p:nvPr/>
        </p:nvGrpSpPr>
        <p:grpSpPr>
          <a:xfrm>
            <a:off x="2903400" y="1620358"/>
            <a:ext cx="1440000" cy="1028160"/>
            <a:chOff x="3756875" y="1790700"/>
            <a:chExt cx="2880000" cy="2160000"/>
          </a:xfrm>
        </p:grpSpPr>
        <p:sp>
          <p:nvSpPr>
            <p:cNvPr id="577" name="Google Shape;577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8" name="Google Shape;578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Google Shape;580;p50"/>
          <p:cNvSpPr/>
          <p:nvPr/>
        </p:nvSpPr>
        <p:spPr>
          <a:xfrm>
            <a:off x="3055800" y="1772758"/>
            <a:ext cx="1440000" cy="1028100"/>
          </a:xfrm>
          <a:prstGeom prst="rect">
            <a:avLst/>
          </a:prstGeom>
          <a:solidFill>
            <a:srgbClr val="999999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50"/>
          <p:cNvSpPr/>
          <p:nvPr/>
        </p:nvSpPr>
        <p:spPr>
          <a:xfrm>
            <a:off x="3234600" y="2223240"/>
            <a:ext cx="432000" cy="432000"/>
          </a:xfrm>
          <a:prstGeom prst="rect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50"/>
          <p:cNvSpPr/>
          <p:nvPr/>
        </p:nvSpPr>
        <p:spPr>
          <a:xfrm>
            <a:off x="3885000" y="2223253"/>
            <a:ext cx="432000" cy="432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3" name="Google Shape;583;p50"/>
          <p:cNvGrpSpPr/>
          <p:nvPr/>
        </p:nvGrpSpPr>
        <p:grpSpPr>
          <a:xfrm>
            <a:off x="3861275" y="3688716"/>
            <a:ext cx="1440000" cy="1028160"/>
            <a:chOff x="3756875" y="1790700"/>
            <a:chExt cx="2880000" cy="2160000"/>
          </a:xfrm>
        </p:grpSpPr>
        <p:sp>
          <p:nvSpPr>
            <p:cNvPr id="584" name="Google Shape;584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5" name="Google Shape;585;p50"/>
            <p:cNvSpPr/>
            <p:nvPr/>
          </p:nvSpPr>
          <p:spPr>
            <a:xfrm>
              <a:off x="4116875" y="2830868"/>
              <a:ext cx="720000" cy="720000"/>
            </a:xfrm>
            <a:prstGeom prst="rect">
              <a:avLst/>
            </a:prstGeom>
            <a:solidFill>
              <a:srgbClr val="0D6EFD"/>
            </a:solidFill>
            <a:ln w="28575" cap="flat" cmpd="sng">
              <a:solidFill>
                <a:srgbClr val="0D6E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0"/>
            <p:cNvSpPr/>
            <p:nvPr/>
          </p:nvSpPr>
          <p:spPr>
            <a:xfrm>
              <a:off x="5556875" y="2830868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7" name="Google Shape;587;p50"/>
          <p:cNvCxnSpPr/>
          <p:nvPr/>
        </p:nvCxnSpPr>
        <p:spPr>
          <a:xfrm>
            <a:off x="3808650" y="2837360"/>
            <a:ext cx="777600" cy="77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88" name="Google Shape;58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199579">
            <a:off x="2649920" y="36005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827329">
            <a:off x="2735091" y="38288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199588">
            <a:off x="4169569" y="4202004"/>
            <a:ext cx="215999" cy="29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760" y="4349579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0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3" name="Google Shape;593;p50"/>
          <p:cNvCxnSpPr/>
          <p:nvPr/>
        </p:nvCxnSpPr>
        <p:spPr>
          <a:xfrm>
            <a:off x="5544600" y="931850"/>
            <a:ext cx="0" cy="39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50"/>
          <p:cNvSpPr txBox="1">
            <a:spLocks noGrp="1"/>
          </p:cNvSpPr>
          <p:nvPr>
            <p:ph type="title" idx="4294967295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/>
              <a:t>Flow of a round</a:t>
            </a:r>
            <a:endParaRPr b="1"/>
          </a:p>
        </p:txBody>
      </p:sp>
      <p:sp>
        <p:nvSpPr>
          <p:cNvPr id="595" name="Google Shape;595;p50"/>
          <p:cNvSpPr txBox="1"/>
          <p:nvPr/>
        </p:nvSpPr>
        <p:spPr>
          <a:xfrm>
            <a:off x="5613250" y="890025"/>
            <a:ext cx="3329400" cy="27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Try out the lotteries until you decide which one you want to play.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ja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may see other players’ final choices along the way.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50"/>
          <p:cNvSpPr txBox="1"/>
          <p:nvPr/>
        </p:nvSpPr>
        <p:spPr>
          <a:xfrm>
            <a:off x="5613250" y="3688725"/>
            <a:ext cx="3329400" cy="10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ja" sz="2100">
                <a:solidFill>
                  <a:srgbClr val="404157"/>
                </a:solidFill>
                <a:latin typeface="Roboto"/>
                <a:ea typeface="Roboto"/>
                <a:cs typeface="Roboto"/>
                <a:sym typeface="Roboto"/>
              </a:rPr>
              <a:t>When you have tried out the lotteries enough, click on the lottery to play.</a:t>
            </a:r>
            <a:endParaRPr sz="2100">
              <a:solidFill>
                <a:srgbClr val="4041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50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37</a:t>
            </a:fld>
            <a:endParaRPr/>
          </a:p>
        </p:txBody>
      </p:sp>
      <p:pic>
        <p:nvPicPr>
          <p:cNvPr id="598" name="Google Shape;598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5128" y="3975333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3263" y="201133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0" title="PROGRESS_BAR_ID"/>
          <p:cNvSpPr/>
          <p:nvPr/>
        </p:nvSpPr>
        <p:spPr>
          <a:xfrm>
            <a:off x="0" y="4953000"/>
            <a:ext cx="8229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1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At the end of the study, 5 of your 40 choices will be drawn, and these lotteries will be played out.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1 point is converted into 3 pence. This will be added to the base reward.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You never know which rounds will be drawn.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So, take all your decisions seriously.</a:t>
            </a:r>
            <a:endParaRPr>
              <a:solidFill>
                <a:srgbClr val="0D6EFD"/>
              </a:solidFill>
            </a:endParaRPr>
          </a:p>
        </p:txBody>
      </p:sp>
      <p:sp>
        <p:nvSpPr>
          <p:cNvPr id="606" name="Google Shape;606;p51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Bonus</a:t>
            </a:r>
            <a:endParaRPr/>
          </a:p>
        </p:txBody>
      </p:sp>
      <p:sp>
        <p:nvSpPr>
          <p:cNvPr id="607" name="Google Shape;607;p51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38</a:t>
            </a:fld>
            <a:endParaRPr/>
          </a:p>
        </p:txBody>
      </p:sp>
      <p:sp>
        <p:nvSpPr>
          <p:cNvPr id="608" name="Google Shape;608;p51" title="PROGRESS_BAR_ID"/>
          <p:cNvSpPr/>
          <p:nvPr/>
        </p:nvSpPr>
        <p:spPr>
          <a:xfrm>
            <a:off x="0" y="4953000"/>
            <a:ext cx="8458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2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If you drop out of the task…</a:t>
            </a:r>
            <a:endParaRPr/>
          </a:p>
        </p:txBody>
      </p:sp>
      <p:sp>
        <p:nvSpPr>
          <p:cNvPr id="614" name="Google Shape;614;p52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You will not receive any reward.</a:t>
            </a:r>
            <a:endParaRPr b="1">
              <a:solidFill>
                <a:srgbClr val="DC354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Reloading or refreshing the tab/window is also considered a drop-out.</a:t>
            </a:r>
            <a:endParaRPr b="1">
              <a:solidFill>
                <a:srgbClr val="DC3545"/>
              </a:solidFill>
            </a:endParaRPr>
          </a:p>
        </p:txBody>
      </p:sp>
      <p:sp>
        <p:nvSpPr>
          <p:cNvPr id="615" name="Google Shape;615;p52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39</a:t>
            </a:fld>
            <a:endParaRPr/>
          </a:p>
        </p:txBody>
      </p:sp>
      <p:sp>
        <p:nvSpPr>
          <p:cNvPr id="616" name="Google Shape;616;p52" title="PROGRESS_BAR_ID"/>
          <p:cNvSpPr/>
          <p:nvPr/>
        </p:nvSpPr>
        <p:spPr>
          <a:xfrm>
            <a:off x="0" y="4953000"/>
            <a:ext cx="8686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The experiment will end, and you will be paid the base reward and the bonus based on 5 of your choices (or fewer if less than 5 choices are available).</a:t>
            </a:r>
            <a:endParaRPr/>
          </a:p>
        </p:txBody>
      </p:sp>
      <p:sp>
        <p:nvSpPr>
          <p:cNvPr id="622" name="Google Shape;622;p53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If all four other players drop out…</a:t>
            </a:r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40</a:t>
            </a:fld>
            <a:endParaRPr/>
          </a:p>
        </p:txBody>
      </p:sp>
      <p:sp>
        <p:nvSpPr>
          <p:cNvPr id="624" name="Google Shape;624;p53" title="PROGRESS_BAR_ID"/>
          <p:cNvSpPr/>
          <p:nvPr/>
        </p:nvSpPr>
        <p:spPr>
          <a:xfrm>
            <a:off x="0" y="4953000"/>
            <a:ext cx="8915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4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Was everything clear?</a:t>
            </a:r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Answer the comprehension questions below.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You can try the questions twice. If you fail twice, you will not be allowed to start the task.</a:t>
            </a:r>
            <a:endParaRPr b="1">
              <a:solidFill>
                <a:srgbClr val="DC354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You can read the slides again if you are not sure.</a:t>
            </a:r>
            <a:endParaRPr b="1">
              <a:solidFill>
                <a:srgbClr val="DC3545"/>
              </a:solidFill>
            </a:endParaRPr>
          </a:p>
        </p:txBody>
      </p:sp>
      <p:sp>
        <p:nvSpPr>
          <p:cNvPr id="631" name="Google Shape;631;p54"/>
          <p:cNvSpPr txBox="1"/>
          <p:nvPr/>
        </p:nvSpPr>
        <p:spPr>
          <a:xfrm>
            <a:off x="2741300" y="3862850"/>
            <a:ext cx="1373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Scroll 　　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4"/>
          <p:cNvSpPr/>
          <p:nvPr/>
        </p:nvSpPr>
        <p:spPr>
          <a:xfrm>
            <a:off x="4152950" y="3966200"/>
            <a:ext cx="832800" cy="532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54"/>
          <p:cNvSpPr txBox="1"/>
          <p:nvPr/>
        </p:nvSpPr>
        <p:spPr>
          <a:xfrm>
            <a:off x="5023700" y="3862850"/>
            <a:ext cx="137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4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41</a:t>
            </a:fld>
            <a:endParaRPr/>
          </a:p>
        </p:txBody>
      </p:sp>
      <p:sp>
        <p:nvSpPr>
          <p:cNvPr id="635" name="Google Shape;635;p54" title="PROGRESS_BAR_ID"/>
          <p:cNvSpPr/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Simple Light">
      <a:dk1>
        <a:srgbClr val="404157"/>
      </a:dk1>
      <a:lt1>
        <a:srgbClr val="F9F3DF"/>
      </a:lt1>
      <a:dk2>
        <a:srgbClr val="A6A6A6"/>
      </a:dk2>
      <a:lt2>
        <a:srgbClr val="FFFFFF"/>
      </a:lt2>
      <a:accent1>
        <a:srgbClr val="20AA8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Microsoft Macintosh PowerPoint</Application>
  <PresentationFormat>画面に合わせる (16:9)</PresentationFormat>
  <Paragraphs>151</Paragraphs>
  <Slides>41</Slides>
  <Notes>41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4" baseType="lpstr">
      <vt:lpstr>Roboto</vt:lpstr>
      <vt:lpstr>Arial</vt:lpstr>
      <vt:lpstr>mytheme</vt:lpstr>
      <vt:lpstr>Instructions for today’s task</vt:lpstr>
      <vt:lpstr>Task overview</vt:lpstr>
      <vt:lpstr>PowerPoint プレゼンテーション</vt:lpstr>
      <vt:lpstr>PowerPoint プレゼンテーション</vt:lpstr>
      <vt:lpstr>PowerPoint プレゼンテーション</vt:lpstr>
      <vt:lpstr>How to try out and play a lottery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You will not do the task alone.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Let’s recap the flow of a round and do a comprehension check.</vt:lpstr>
      <vt:lpstr>Flow of a round</vt:lpstr>
      <vt:lpstr>Flow of a round</vt:lpstr>
      <vt:lpstr>Flow of a round</vt:lpstr>
      <vt:lpstr>Bonus</vt:lpstr>
      <vt:lpstr>If you drop out of the task…</vt:lpstr>
      <vt:lpstr>If all four other players drop out…</vt:lpstr>
      <vt:lpstr>Was everything clear?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2025-07-15T14:47:08Z</dcterms:modified>
</cp:coreProperties>
</file>